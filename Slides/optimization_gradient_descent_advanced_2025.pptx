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6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B0CF-CC96-9F69-6CEF-FC634D12B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9FC29-5616-645E-A221-249A49ACE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BB29-D3FE-0700-C802-2DA6880E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3C2E-550E-7D0F-14D0-C9D2702F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F7995-4F36-37CD-E6BC-8E48C33D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7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4E2CF-0243-DDAD-EF6C-DD7FF5E0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B391B-66EC-6F44-E231-0BE2C841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0B0A-7709-5DED-BC8B-DAB9D895D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70B6B-E52F-2D00-6AD1-58C2B9BB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35C8-5CDF-5BD0-4A6C-4B133423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7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2DBE-B27C-F539-D564-53024B6E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E5FE7-019C-24EF-F17F-D64A512C6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A6B7F-55B1-2C67-AE44-808A356C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7EA7-472D-D34C-6022-FF32EEC7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0A66F-398C-4C85-0AD8-1FDA6250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9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56BE-53FC-16E4-F091-EF17F414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BED92-3F30-641D-3EB8-C594C4FFE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E824E-D80F-0D04-CE25-C5790349C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D0F0A-B2EA-4135-13E2-B3B86731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555CD-90E3-B0A0-B429-8490B8A6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A6C6A-163B-9439-194D-87F2673D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2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480D-5DC2-AE11-5663-D4DCA680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B7B3D-EEAC-8895-9372-21E3B6F3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D768C-AC18-7A9D-570B-8DC048EC8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A3292-6918-E7BA-324E-0CF6492C6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C737E-602D-0027-0841-A2046A642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29826-6285-6670-A214-8C56344B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72315-62B9-8169-4CB4-64180BB1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878C4-782B-5812-9F2F-904EF897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69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B570-F7B8-1AE8-2F11-0C7D300A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0A6A8-3BA6-0BB0-8166-790606EA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86773-F90F-A2B2-101E-1EDC7EAB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2FF91-DA88-E352-2A55-B58E9D02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662C-0961-87A1-55CB-E5992AFE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BA4FA-E34A-2519-DDF5-EA389D20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814A-B091-3543-C965-5C55885F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3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8DE5-6EFD-3C5B-B88E-A8F9BDBB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1EFE-5DC0-64EF-974B-4971E9ECA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733E0-7298-AEFC-2ACE-3458A9236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843E2-E473-0BBD-CAE4-186FDAC8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5B574-4650-5769-619E-1001E4B39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FE87E-CCEC-F651-7EF3-A0D8A978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7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EE3C-DD64-2A8E-B9E4-461030D6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D07DE-8E6F-CECE-4EBF-F5002DC73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E3075-7D46-7BA2-5483-C691C3AF5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DD94A-7C00-69F4-1B3E-7801F81E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6EBEF-8940-F165-4BF2-5813DA6E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75F57-502D-608D-0A69-8AA1FD7B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78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9295-5A70-6F8E-E2B5-F7AB8ADF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DEE6D-396B-DAFA-73ED-6D7AECE8B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BC29-D578-3A85-8763-BAD89DF9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0133-2E7F-0C6E-468F-63D30DDF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637B-B1FB-BB5B-1CE5-8646B46F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2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8DFA1-8077-6E72-22FF-4ADED61F8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9B357-8F16-9B06-5136-ED0866890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8DF2-855A-65B0-7241-BAF66163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D5E7-5E4B-61EF-0391-1349943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9FE34-20EB-E878-A63E-0D5B8B01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9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6B4CD-1EC4-DF3A-5F6E-C5AF2836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3A47C-3EA9-6499-744C-10F933D3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BA976-2C1F-FEFF-270A-D1C282774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F55D0-28CC-6640-8188-C30AE5CD0133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B1B7F-E08D-76A1-B61F-88946FDE9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1254E-7649-4E6D-7901-D2DE78883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53F46-14F1-BB41-B27E-32A360DB1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2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1C497-D4C6-C2EA-44EB-5C355DFA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967" y="3602038"/>
            <a:ext cx="9144000" cy="1655762"/>
          </a:xfrm>
        </p:spPr>
        <p:txBody>
          <a:bodyPr/>
          <a:lstStyle/>
          <a:p>
            <a:pPr algn="l"/>
            <a:r>
              <a:rPr lang="en-US"/>
              <a:t>MAE598/494 Design Optimization</a:t>
            </a:r>
          </a:p>
          <a:p>
            <a:pPr algn="l"/>
            <a:r>
              <a:rPr lang="en-US"/>
              <a:t>Yi Ren</a:t>
            </a:r>
          </a:p>
          <a:p>
            <a:pPr algn="l"/>
            <a:r>
              <a:rPr lang="en-US"/>
              <a:t>ASU Fall 2025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FF7E57-9E59-8151-EA3B-4EDD6FC84668}"/>
              </a:ext>
            </a:extLst>
          </p:cNvPr>
          <p:cNvSpPr txBox="1">
            <a:spLocks/>
          </p:cNvSpPr>
          <p:nvPr/>
        </p:nvSpPr>
        <p:spPr>
          <a:xfrm>
            <a:off x="846093" y="7052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rgbClr val="0432FF"/>
                </a:solidFill>
              </a:rPr>
              <a:t>Gradient-based methods</a:t>
            </a:r>
            <a:br>
              <a:rPr lang="en-US" sz="4000" dirty="0">
                <a:solidFill>
                  <a:srgbClr val="0432FF"/>
                </a:solidFill>
              </a:rPr>
            </a:br>
            <a:r>
              <a:rPr lang="en-US" sz="4000" dirty="0">
                <a:solidFill>
                  <a:srgbClr val="0432FF"/>
                </a:solidFill>
              </a:rPr>
              <a:t>for unconstrained optimization (part 3)</a:t>
            </a:r>
          </a:p>
        </p:txBody>
      </p:sp>
    </p:spTree>
    <p:extLst>
      <p:ext uri="{BB962C8B-B14F-4D97-AF65-F5344CB8AC3E}">
        <p14:creationId xmlns:p14="http://schemas.microsoft.com/office/powerpoint/2010/main" val="3448734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0CE2-505B-8BF2-DFC8-425DE5E15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7ADCB-96D8-7FDA-BD27-5C3DB2B0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Momentum-based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BA610-5C9F-0003-7E44-501CEC6F9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42785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Motivation: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L-BFGS: </a:t>
                </a:r>
                <a:r>
                  <a:rPr lang="en-US" sz="2400" dirty="0"/>
                  <a:t>Uses gradient history to build low-rank inverse Hessian approximation. Memory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𝑚𝑑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: buffer size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Trust Region (TR):</a:t>
                </a:r>
                <a:r>
                  <a:rPr lang="en-US" sz="2400" dirty="0"/>
                  <a:t> Each step solves a constrained quadratic subproblem, often via CG.  Memory cost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: #</a:t>
                </a:r>
                <a:r>
                  <a:rPr lang="en-US" sz="2400" dirty="0" err="1"/>
                  <a:t>iter</a:t>
                </a:r>
                <a:r>
                  <a:rPr lang="en-US" sz="2400" dirty="0"/>
                  <a:t> for CG.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For problems w/ extremely large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(e.g., LLM training), L-BFGS and TR are too expensive per iteration.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srgbClr val="0432FF"/>
                    </a:solidFill>
                  </a:rPr>
                  <a:t>Momentum-based methods </a:t>
                </a:r>
                <a:r>
                  <a:rPr lang="en-US" sz="2400" dirty="0"/>
                  <a:t>mimic second-order behavior (i.e., faster convergence w/ ill-conditioned Hessian) with a memory cost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introduce three representative momentum-based methods: </a:t>
                </a:r>
                <a:r>
                  <a:rPr lang="en-US" sz="2400" dirty="0">
                    <a:solidFill>
                      <a:srgbClr val="0432FF"/>
                    </a:solidFill>
                  </a:rPr>
                  <a:t>Heavy-ball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432FF"/>
                    </a:solidFill>
                  </a:rPr>
                  <a:t>Nesterov</a:t>
                </a:r>
                <a:r>
                  <a:rPr lang="en-US" sz="2400" dirty="0"/>
                  <a:t>, and </a:t>
                </a:r>
                <a:r>
                  <a:rPr lang="en-US" sz="2400" dirty="0">
                    <a:solidFill>
                      <a:srgbClr val="0432FF"/>
                    </a:solidFill>
                  </a:rPr>
                  <a:t>Adam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BA610-5C9F-0003-7E44-501CEC6F9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42785" cy="5032375"/>
              </a:xfrm>
              <a:blipFill>
                <a:blip r:embed="rId2"/>
                <a:stretch>
                  <a:fillRect l="-796" t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049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E6A3-7C24-64B8-3761-C8B7E38E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3B94-822A-C241-52B9-8FD4EC75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Heavy ball momentum (1964)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73163-5AFB-4B00-9878-2B783004A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GD oscillates in narrow valleys (ill-conditioned Hessian).</a:t>
                </a:r>
              </a:p>
              <a:p>
                <a:r>
                  <a:rPr lang="en-US" sz="2400" dirty="0"/>
                  <a:t>Add </a:t>
                </a:r>
                <a:r>
                  <a:rPr lang="en-US" sz="2400" dirty="0">
                    <a:solidFill>
                      <a:srgbClr val="0432FF"/>
                    </a:solidFill>
                  </a:rPr>
                  <a:t>inertia</a:t>
                </a:r>
                <a:r>
                  <a:rPr lang="en-US" sz="2400" dirty="0"/>
                  <a:t>: don’t reset velocity to 0 each step, instead carry some momentum.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i="1" smtClean="0"/>
                        <m:t>α</m:t>
                      </m:r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: step size,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: momentum parameter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73163-5AFB-4B00-9878-2B783004A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05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19A7-8B34-446E-CF58-BB6322C2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2AA3-DEC7-F795-2B32-09957313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Heavy ball momentum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55375-B4F4-71EB-081A-937F708913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Physics interpretation: </a:t>
                </a:r>
                <a:r>
                  <a:rPr lang="en-US" sz="2400" dirty="0"/>
                  <a:t>Consider ODE with a viscous drag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/>
                  <a:t> and a potential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𝛾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Let velocity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/>
                  <a:t>. Its Euler discretization with time step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, we get HB from the ODE.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55375-B4F4-71EB-081A-937F70891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048504-3BD6-7D4A-EEFD-A69392F531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626339"/>
                  </p:ext>
                </p:extLst>
              </p:nvPr>
            </p:nvGraphicFramePr>
            <p:xfrm>
              <a:off x="2032000" y="4215472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4000937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33622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96498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048504-3BD6-7D4A-EEFD-A69392F531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626339"/>
                  </p:ext>
                </p:extLst>
              </p:nvPr>
            </p:nvGraphicFramePr>
            <p:xfrm>
              <a:off x="2032000" y="4215472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34000937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" r="-469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3622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" t="-102778" r="-469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6498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3770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F94B-44DE-5663-1689-C54B5D7F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D96D-9840-99EF-E7A6-48296B9A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Heavy ball momentum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D421DB-2810-90EB-66BB-F03950A26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Convergence: </a:t>
                </a:r>
                <a:r>
                  <a:rPr lang="en-US" sz="2400" dirty="0"/>
                  <a:t>For quadratic and strongly convex problems, with </a:t>
                </a:r>
                <a:r>
                  <a:rPr lang="en-US" sz="2400" dirty="0">
                    <a:solidFill>
                      <a:srgbClr val="0432FF"/>
                    </a:solidFill>
                  </a:rPr>
                  <a:t>optimally tuned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HB achieves linear convergence with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e>
                                  </m:ra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e>
                                  </m:ra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Remark: </a:t>
                </a:r>
                <a:r>
                  <a:rPr lang="en-US" sz="2400" dirty="0"/>
                  <a:t>Convergence of HB assumes global max and min curvature knowledge. For non-strongly convex problems, convergence not guaranteed.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D421DB-2810-90EB-66BB-F03950A26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 r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29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D432-F10A-E1A7-3C43-D7A8B371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4E18-EFE4-5CD2-4F3B-082FD0EF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Nesterov’s accelerated gradient (NAG, 1983)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17570-9EF1-7909-14A7-EA19C0DF8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Heavy-ball has no rigorous guarantee of optimal rate for convex problems.</a:t>
                </a:r>
              </a:p>
              <a:p>
                <a:r>
                  <a:rPr lang="en-US" sz="2400" dirty="0"/>
                  <a:t>NAG computes gradient at a look-ahead point, not the current point.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Update rule: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Physics interpretation: </a:t>
                </a:r>
                <a:r>
                  <a:rPr lang="en-US" sz="2400" dirty="0"/>
                  <a:t>NAG has vanishing damping along time (Su-Boyd-</a:t>
                </a:r>
                <a:r>
                  <a:rPr lang="en-US" sz="2400" dirty="0" err="1"/>
                  <a:t>Candes</a:t>
                </a:r>
                <a:r>
                  <a:rPr lang="en-US" sz="2400" dirty="0"/>
                  <a:t> 2016):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17570-9EF1-7909-14A7-EA19C0DF8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65BD950-86B8-4522-98F8-7F0061E3FB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642302"/>
                  </p:ext>
                </p:extLst>
              </p:nvPr>
            </p:nvGraphicFramePr>
            <p:xfrm>
              <a:off x="3446585" y="3605872"/>
              <a:ext cx="5076092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76092">
                      <a:extLst>
                        <a:ext uri="{9D8B030D-6E8A-4147-A177-3AD203B41FA5}">
                          <a16:colId xmlns:a16="http://schemas.microsoft.com/office/drawing/2014/main" val="34000937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33622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96498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65BD950-86B8-4522-98F8-7F0061E3FB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642302"/>
                  </p:ext>
                </p:extLst>
              </p:nvPr>
            </p:nvGraphicFramePr>
            <p:xfrm>
              <a:off x="3446585" y="3605872"/>
              <a:ext cx="5076092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76092">
                      <a:extLst>
                        <a:ext uri="{9D8B030D-6E8A-4147-A177-3AD203B41FA5}">
                          <a16:colId xmlns:a16="http://schemas.microsoft.com/office/drawing/2014/main" val="34000937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49" r="-499" b="-1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3622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49" t="-102778" r="-499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6498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7706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47FE-3FE7-940E-D325-14DB1CDE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E5E3-B13B-204A-C064-1132D513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Nesterov’s accelerated gradient (NAG)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EE73B-9219-58FC-9E8A-5DB023DDB9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Convergence: </a:t>
                </a:r>
                <a:r>
                  <a:rPr lang="en-US" sz="2400" dirty="0"/>
                  <a:t>For smooth and convex problems, NAG converges with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Remark: </a:t>
                </a:r>
                <a:r>
                  <a:rPr lang="en-US" sz="2400" dirty="0"/>
                  <a:t>NAG achieves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the best convergence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(−2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432FF"/>
                    </a:solidFill>
                  </a:rPr>
                  <a:t> </a:t>
                </a:r>
                <a:r>
                  <a:rPr lang="en-US" sz="2400" dirty="0"/>
                  <a:t>among all first-order methods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memory cost) for convex problems. Compared with HB, NAG trades off convergence rate for robustness across problems.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EE73B-9219-58FC-9E8A-5DB023DDB9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48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22FC-C600-DD4C-DCE2-5B42882E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CC16-8351-78C9-83B8-86E6969FC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Adam (2015)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43EA-485D-DE9E-1D10-EB34EF1C9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Motivation: </a:t>
            </a:r>
            <a:r>
              <a:rPr lang="en-US" sz="2400" dirty="0"/>
              <a:t>Deep learning needs optimizers robust to:</a:t>
            </a:r>
          </a:p>
          <a:p>
            <a:r>
              <a:rPr lang="en-US" sz="2400" dirty="0"/>
              <a:t>Nonconvex objectives</a:t>
            </a:r>
          </a:p>
          <a:p>
            <a:r>
              <a:rPr lang="en-US" sz="2400" dirty="0">
                <a:solidFill>
                  <a:srgbClr val="0432FF"/>
                </a:solidFill>
              </a:rPr>
              <a:t>Stochastic gradients </a:t>
            </a:r>
            <a:r>
              <a:rPr lang="en-US" sz="2400" dirty="0"/>
              <a:t>(due to random sampling)</a:t>
            </a:r>
          </a:p>
          <a:p>
            <a:r>
              <a:rPr lang="en-US" sz="2400" dirty="0"/>
              <a:t>Different scaling per coordinate</a:t>
            </a:r>
          </a:p>
          <a:p>
            <a:pPr marL="0" indent="0">
              <a:buNone/>
            </a:pPr>
            <a:endParaRPr lang="en-US" sz="2400" dirty="0">
              <a:solidFill>
                <a:srgbClr val="0432FF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432FF"/>
                </a:solidFill>
              </a:rPr>
              <a:t>Adam </a:t>
            </a:r>
            <a:r>
              <a:rPr lang="en-US" sz="2400" dirty="0"/>
              <a:t>combines momentum and adaptive step size. </a:t>
            </a:r>
          </a:p>
          <a:p>
            <a:pPr marL="0" indent="0">
              <a:buNone/>
            </a:pPr>
            <a:r>
              <a:rPr lang="en-US" sz="2400" dirty="0"/>
              <a:t>Useful for stochastic gradient, but not when gradient changes rapidly.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943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A080-CFA3-32E5-4219-51C4B366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1641-4924-C9CB-EC86-349C71F3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Adam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8D4E-FF63-581E-06A4-16C5C34C74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Update rule:</a:t>
                </a:r>
              </a:p>
              <a:p>
                <a:r>
                  <a:rPr lang="en-US" sz="2400" dirty="0"/>
                  <a:t>Running averages of gradients and squared gradients: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Bias correction: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Update step: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AE8D4E-FF63-581E-06A4-16C5C34C7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79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5FBA-F0ED-7B44-49CB-06259A866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FA89-9CCD-4C80-6DB5-B15D667D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A25488-67CE-F8E0-D70C-7DDA4AD3DD9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03714857"/>
                  </p:ext>
                </p:extLst>
              </p:nvPr>
            </p:nvGraphicFramePr>
            <p:xfrm>
              <a:off x="679937" y="1825625"/>
              <a:ext cx="11258446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688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186303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184654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02282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638321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Stochastic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(&lt;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 nonconvex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𝑚𝑑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HB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Linear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144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NAG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Best 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416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A25488-67CE-F8E0-D70C-7DDA4AD3DD9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03714857"/>
                  </p:ext>
                </p:extLst>
              </p:nvPr>
            </p:nvGraphicFramePr>
            <p:xfrm>
              <a:off x="679937" y="1825625"/>
              <a:ext cx="11258446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688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186303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184654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02282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638321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31013" t="-6897" r="-132278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4070" t="-60784" r="-213372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27404" t="-60784" r="-481" b="-2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4070" t="-273333" r="-213372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HB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Linear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4070" t="-386207" r="-213372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144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NAG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Best 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4070" t="-470000" r="-213372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416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4070" t="-589655" r="-213372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504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390B7-8BDC-6E4B-7718-2E60345C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975A-CE12-2F6E-11BF-7CC37FCC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Open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FA841C-2EC1-2759-69F7-0EF2C6EA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70" y="3716215"/>
            <a:ext cx="5756030" cy="3047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Curvature on the cheap: </a:t>
            </a:r>
            <a:r>
              <a:rPr lang="en-US" sz="2400" dirty="0"/>
              <a:t>Recipe that (</a:t>
            </a:r>
            <a:r>
              <a:rPr lang="en-US" sz="2400" dirty="0" err="1"/>
              <a:t>i</a:t>
            </a:r>
            <a:r>
              <a:rPr lang="en-US" sz="2400" dirty="0"/>
              <a:t>) costs first-order per step and memory, (ii) uses curvature enough to beat momentum/Adam on hard problems, and (iii) stays stable in nonconvex regimes. </a:t>
            </a:r>
          </a:p>
          <a:p>
            <a:pPr marL="0" indent="0">
              <a:buNone/>
            </a:pPr>
            <a:r>
              <a:rPr lang="en-US" sz="2400" b="1" dirty="0"/>
              <a:t>Applications: </a:t>
            </a:r>
            <a:r>
              <a:rPr lang="en-US" sz="2400" dirty="0"/>
              <a:t>MPC w/ nonlinear dynamics (e.g., soft robotics), PDE-constrained optimization (e.g., engineering design), PINN/NO (e.g., climate prediction)</a:t>
            </a:r>
          </a:p>
          <a:p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  <a:p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F4883A3-975A-6955-8F09-22B5B9F98D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90769102"/>
                  </p:ext>
                </p:extLst>
              </p:nvPr>
            </p:nvGraphicFramePr>
            <p:xfrm>
              <a:off x="187569" y="1567719"/>
              <a:ext cx="1175081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41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325650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280196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89848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753703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Stochastic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nonconvex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𝑚𝑑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???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Linear+ (nonconvex+)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b="1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075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F4883A3-975A-6955-8F09-22B5B9F98D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90769102"/>
                  </p:ext>
                </p:extLst>
              </p:nvPr>
            </p:nvGraphicFramePr>
            <p:xfrm>
              <a:off x="187569" y="1567719"/>
              <a:ext cx="1175081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41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325650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280196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89848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753703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30909" t="-6897" r="-132121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3333" t="-103333" r="-212778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nonconvex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333" t="-210345" r="-212778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333" t="-300000" r="-212778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???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Linear+ (nonconvex+)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333" t="-413793" r="-212778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07586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5EB7C981-E730-E145-6E7C-9AA49C13D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2" y="3312136"/>
            <a:ext cx="5779859" cy="28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210B62-0382-2569-FE33-19A1A988ED03}"/>
              </a:ext>
            </a:extLst>
          </p:cNvPr>
          <p:cNvSpPr txBox="1"/>
          <p:nvPr/>
        </p:nvSpPr>
        <p:spPr>
          <a:xfrm>
            <a:off x="9276226" y="6394882"/>
            <a:ext cx="275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Van den Brink et al. (2024)</a:t>
            </a:r>
          </a:p>
        </p:txBody>
      </p:sp>
    </p:spTree>
    <p:extLst>
      <p:ext uri="{BB962C8B-B14F-4D97-AF65-F5344CB8AC3E}">
        <p14:creationId xmlns:p14="http://schemas.microsoft.com/office/powerpoint/2010/main" val="1695584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0E35-E1C0-88E6-A23C-2B490FA2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of a diagram&#10;&#10;AI-generated content may be incorrect.">
            <a:extLst>
              <a:ext uri="{FF2B5EF4-FFF2-40B4-BE49-F238E27FC236}">
                <a16:creationId xmlns:a16="http://schemas.microsoft.com/office/drawing/2014/main" id="{90695971-DCBF-01E0-CC2C-A5F1D3FC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883" y="3020400"/>
            <a:ext cx="4258756" cy="5372584"/>
          </a:xfrm>
          <a:prstGeom prst="rect">
            <a:avLst/>
          </a:prstGeom>
        </p:spPr>
      </p:pic>
      <p:pic>
        <p:nvPicPr>
          <p:cNvPr id="8" name="Picture 7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936E0EC2-65A0-3FED-E283-6CC3FFF4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728" y="3055870"/>
            <a:ext cx="4230639" cy="5337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B54C55-0921-CFA7-1A69-0882537F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Open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4DFC7-0C07-6DA8-0CC1-185497030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70" y="3716215"/>
            <a:ext cx="4079630" cy="304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Stochastic nonconvex optimization and games: </a:t>
            </a:r>
            <a:r>
              <a:rPr lang="en-US" sz="2400" dirty="0"/>
              <a:t>Complexity results lack for noisy, structured, nonconvex engineering problems. </a:t>
            </a:r>
          </a:p>
          <a:p>
            <a:pPr marL="0" indent="0">
              <a:buNone/>
            </a:pPr>
            <a:r>
              <a:rPr lang="en-US" sz="2400" b="1" dirty="0"/>
              <a:t>Applications:</a:t>
            </a:r>
            <a:r>
              <a:rPr lang="en-US" sz="2400" dirty="0"/>
              <a:t> RL, learning dynamics from real-world data</a:t>
            </a:r>
          </a:p>
          <a:p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  <a:p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6AAB95E2-50B5-2AC1-822A-AEB35459C8A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93506277"/>
                  </p:ext>
                </p:extLst>
              </p:nvPr>
            </p:nvGraphicFramePr>
            <p:xfrm>
              <a:off x="187569" y="1567719"/>
              <a:ext cx="1175081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41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325650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280196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89848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753703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Stochastic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nonconvex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𝑚𝑑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???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rgbClr val="0432FF"/>
                              </a:solidFill>
                            </a:rPr>
                            <a:t>Sublinear</a:t>
                          </a:r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075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6AAB95E2-50B5-2AC1-822A-AEB35459C8A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93506277"/>
                  </p:ext>
                </p:extLst>
              </p:nvPr>
            </p:nvGraphicFramePr>
            <p:xfrm>
              <a:off x="187569" y="1567719"/>
              <a:ext cx="1175081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416">
                      <a:extLst>
                        <a:ext uri="{9D8B030D-6E8A-4147-A177-3AD203B41FA5}">
                          <a16:colId xmlns:a16="http://schemas.microsoft.com/office/drawing/2014/main" val="2999287183"/>
                        </a:ext>
                      </a:extLst>
                    </a:gridCol>
                    <a:gridCol w="3325650">
                      <a:extLst>
                        <a:ext uri="{9D8B030D-6E8A-4147-A177-3AD203B41FA5}">
                          <a16:colId xmlns:a16="http://schemas.microsoft.com/office/drawing/2014/main" val="125034895"/>
                        </a:ext>
                      </a:extLst>
                    </a:gridCol>
                    <a:gridCol w="2280196">
                      <a:extLst>
                        <a:ext uri="{9D8B030D-6E8A-4147-A177-3AD203B41FA5}">
                          <a16:colId xmlns:a16="http://schemas.microsoft.com/office/drawing/2014/main" val="2406612898"/>
                        </a:ext>
                      </a:extLst>
                    </a:gridCol>
                    <a:gridCol w="2089848">
                      <a:extLst>
                        <a:ext uri="{9D8B030D-6E8A-4147-A177-3AD203B41FA5}">
                          <a16:colId xmlns:a16="http://schemas.microsoft.com/office/drawing/2014/main" val="3450177548"/>
                        </a:ext>
                      </a:extLst>
                    </a:gridCol>
                    <a:gridCol w="2753703">
                      <a:extLst>
                        <a:ext uri="{9D8B030D-6E8A-4147-A177-3AD203B41FA5}">
                          <a16:colId xmlns:a16="http://schemas.microsoft.com/office/drawing/2014/main" val="1603083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Convergence (condition)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Worst cost per 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iter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0909" t="-6897" r="-132121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Application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513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03333" t="-103333" r="-212778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nonconvex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892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L-BFGS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Superlinear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(strongly convex)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3333" t="-210345" r="-212778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Medium-scale convex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79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Adam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Sublinear (convex+)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3333" t="-300000" r="-212778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Large-scale NN training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3069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???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rgbClr val="0432FF"/>
                              </a:solidFill>
                            </a:rPr>
                            <a:t>Sublinear</a:t>
                          </a:r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 (nonconvex+)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432FF"/>
                              </a:solidFill>
                            </a:rPr>
                            <a:t>Yes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0758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970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D0BC-8FFB-0570-26CE-2737F1E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0" dirty="0"/>
                  <a:t>We often face problems like this (examples?):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SGD approximates gradient using a batch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For nonconvex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SGD converges to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m:rPr>
                        <m:lit/>
                      </m:rP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(1/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steps.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DF46A37-F26C-FAE8-9A35-565C0707E681}"/>
              </a:ext>
            </a:extLst>
          </p:cNvPr>
          <p:cNvSpPr/>
          <p:nvPr/>
        </p:nvSpPr>
        <p:spPr>
          <a:xfrm>
            <a:off x="838199" y="2374842"/>
            <a:ext cx="10169913" cy="836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2B6766B-AB6A-DAB7-8D86-7DD2E61A11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126171"/>
                  </p:ext>
                </p:extLst>
              </p:nvPr>
            </p:nvGraphicFramePr>
            <p:xfrm>
              <a:off x="1134319" y="2432721"/>
              <a:ext cx="9025682" cy="6469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1473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≔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2B6766B-AB6A-DAB7-8D86-7DD2E61A11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126171"/>
                  </p:ext>
                </p:extLst>
              </p:nvPr>
            </p:nvGraphicFramePr>
            <p:xfrm>
              <a:off x="1134319" y="2432721"/>
              <a:ext cx="9025682" cy="6469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646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29630" b="-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548" b="-5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014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18161</TotalTime>
  <Words>970</Words>
  <Application>Microsoft Macintosh PowerPoint</Application>
  <PresentationFormat>Widescreen</PresentationFormat>
  <Paragraphs>167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PowerPoint Presentation</vt:lpstr>
      <vt:lpstr>Momentum-based methods</vt:lpstr>
      <vt:lpstr>Heavy ball momentum (1964)</vt:lpstr>
      <vt:lpstr>Heavy ball momentum</vt:lpstr>
      <vt:lpstr>Heavy ball momentum</vt:lpstr>
      <vt:lpstr>Nesterov’s accelerated gradient (NAG, 1983)</vt:lpstr>
      <vt:lpstr>Nesterov’s accelerated gradient (NAG)</vt:lpstr>
      <vt:lpstr>Adam (2015)</vt:lpstr>
      <vt:lpstr>Adam</vt:lpstr>
      <vt:lpstr>Summary</vt:lpstr>
      <vt:lpstr>Open questions</vt:lpstr>
      <vt:lpstr>Open questions</vt:lpstr>
      <vt:lpstr>SGD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Ren</dc:creator>
  <cp:lastModifiedBy>Yi Ren</cp:lastModifiedBy>
  <cp:revision>25</cp:revision>
  <dcterms:created xsi:type="dcterms:W3CDTF">2025-08-13T02:51:47Z</dcterms:created>
  <dcterms:modified xsi:type="dcterms:W3CDTF">2025-09-22T17:23:10Z</dcterms:modified>
</cp:coreProperties>
</file>