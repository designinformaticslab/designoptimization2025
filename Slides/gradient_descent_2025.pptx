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60" r:id="rId4"/>
    <p:sldId id="259" r:id="rId5"/>
    <p:sldId id="265" r:id="rId6"/>
    <p:sldId id="270" r:id="rId7"/>
    <p:sldId id="271" r:id="rId8"/>
    <p:sldId id="269" r:id="rId9"/>
    <p:sldId id="261" r:id="rId10"/>
    <p:sldId id="262" r:id="rId11"/>
    <p:sldId id="263" r:id="rId12"/>
    <p:sldId id="264" r:id="rId13"/>
    <p:sldId id="266" r:id="rId14"/>
    <p:sldId id="267" r:id="rId15"/>
    <p:sldId id="268" r:id="rId16"/>
    <p:sldId id="279" r:id="rId17"/>
    <p:sldId id="275" r:id="rId18"/>
    <p:sldId id="272" r:id="rId19"/>
    <p:sldId id="273" r:id="rId20"/>
    <p:sldId id="274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82"/>
  </p:normalViewPr>
  <p:slideViewPr>
    <p:cSldViewPr snapToGrid="0">
      <p:cViewPr varScale="1">
        <p:scale>
          <a:sx n="111" d="100"/>
          <a:sy n="111" d="100"/>
        </p:scale>
        <p:origin x="7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41B31-3685-699B-0FF8-034D9623BE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8DF850-3F4E-EB3A-4497-63F42E6A39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22EF1-1539-E1D1-75A6-C3C8A9FFF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B621C-516B-6148-A6DC-D8A9B584B91B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1504E-BB4F-DB55-D58A-5B3F5281D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F792D-3B83-750D-3E6E-4A9462535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0E64-D9DB-CC41-BF64-6F27BC4D4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827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43176-5048-6E2E-F83D-2D684C540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A5785-54D4-84B6-32DE-6B400CFF2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A8E88-E920-617A-B8FE-D10082428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B621C-516B-6148-A6DC-D8A9B584B91B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1A154-11E9-4597-84D2-45656B820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DBDA6-D957-8895-D8CB-6F1B4B10B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0E64-D9DB-CC41-BF64-6F27BC4D4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177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DA6AF-0229-9D55-D36E-31EAB228B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7C380-5981-31BD-A3F0-D7605BCD8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BB6C6-AA71-5A2B-55F5-3B0C33831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B621C-516B-6148-A6DC-D8A9B584B91B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7F1E0-A0F1-CFC7-CB0D-C92789F3A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363CC-0D6B-BDFD-4639-C8A4159B6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0E64-D9DB-CC41-BF64-6F27BC4D4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450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C2E98-79C7-3004-A397-E302DD4F7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163FE-D4F7-9D82-0700-73974C4020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710CB8-07FE-4C6A-555F-297D26065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C8CBDE-3511-FAA7-A21C-0A8B4FD2B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B621C-516B-6148-A6DC-D8A9B584B91B}" type="datetimeFigureOut">
              <a:rPr lang="en-US" smtClean="0"/>
              <a:t>8/11/25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064749-E88B-ACC1-95F8-79687AE84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20B793-476D-3ADC-C48C-24205719D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0E64-D9DB-CC41-BF64-6F27BC4D4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377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F77C5-5C92-4A00-008D-9E1945A6A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1F39F1-5251-429D-C09A-BBA1EB6B4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BAA25A-0A4C-7E59-D573-5A6022CD6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D6FFB8-C75C-E73F-CE5B-D668652E9C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1C15E6-A323-C7AA-B22A-E484CE9932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02EC2A-889A-95ED-C98C-7358CD507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B621C-516B-6148-A6DC-D8A9B584B91B}" type="datetimeFigureOut">
              <a:rPr lang="en-US" smtClean="0"/>
              <a:t>8/11/25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F48744-6237-5AAD-E676-DC4B592F7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9A7834-E70F-3E56-4134-A4173A071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0E64-D9DB-CC41-BF64-6F27BC4D4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80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D1D93-569B-D905-98EF-7DB718E82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335502-43C8-12E1-2F72-AF55AB375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B621C-516B-6148-A6DC-D8A9B584B91B}" type="datetimeFigureOut">
              <a:rPr lang="en-US" smtClean="0"/>
              <a:t>8/11/25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7FD783-E5E6-E86A-2E72-8D8CE1CD2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B87216-6024-D629-7604-4CE2C538E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0E64-D9DB-CC41-BF64-6F27BC4D4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954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7000FD-BE63-F81B-3A91-D07ABBC5E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B621C-516B-6148-A6DC-D8A9B584B91B}" type="datetimeFigureOut">
              <a:rPr lang="en-US" smtClean="0"/>
              <a:t>8/11/25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5077BF-92BD-9E44-FB52-FE103F7E4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6FB99-80D0-4918-3BCF-69E42829F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0E64-D9DB-CC41-BF64-6F27BC4D4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993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BD56C-7D06-26C2-8E3A-4C03ABF2A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9BAA4-B496-A204-D9D1-F41B1997C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307770-8A83-BFE5-8AF5-E912DD6753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25F624-3553-843A-2734-F573B164A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B621C-516B-6148-A6DC-D8A9B584B91B}" type="datetimeFigureOut">
              <a:rPr lang="en-US" smtClean="0"/>
              <a:t>8/11/25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E473C5-16B7-40E5-E07B-AB09E165C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580F66-B525-5C76-D8B5-41663C299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0E64-D9DB-CC41-BF64-6F27BC4D4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443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C15DF-0022-168E-3E49-A0EC774D4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EB5896-C204-A3FE-E880-98E606015C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9F7506-390B-ABE9-1B15-43BF1BA6ED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417AF4-10E6-E794-958E-27379A021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B621C-516B-6148-A6DC-D8A9B584B91B}" type="datetimeFigureOut">
              <a:rPr lang="en-US" smtClean="0"/>
              <a:t>8/11/25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0D4F6F-E94F-838B-A476-2EEFB552B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6A717D-D35E-BF55-A6FA-C9B00B6B9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0E64-D9DB-CC41-BF64-6F27BC4D4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26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6CD62-17A5-8E7D-023C-C6C9C50F9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DE618E-C0A5-CFCB-757C-F8F9F4364C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83A8C-EA11-4E16-395F-E75C91131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B621C-516B-6148-A6DC-D8A9B584B91B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67894-2B87-FC7E-3B9C-D12228793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729F7-F182-1565-6607-C9388021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0E64-D9DB-CC41-BF64-6F27BC4D4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912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546C7D-EFA5-14E4-A4D5-4BB26D778A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597C6D-6F5F-6C39-D011-FA6A6F618F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A2D37-3DDF-1AD2-A695-0380B71F3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B621C-516B-6148-A6DC-D8A9B584B91B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D534A-DADA-BBAA-8FDB-0E7561F9E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E1C15-D18F-2657-6A88-AAC21823F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0E64-D9DB-CC41-BF64-6F27BC4D4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262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00F7B1-850B-9E58-4B3D-EC3AC7456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2C326-5CEE-9A19-CD73-6F8E31131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05CF0-78E3-F7F6-B900-2266772521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B621C-516B-6148-A6DC-D8A9B584B91B}" type="datetimeFigureOut">
              <a:rPr lang="en-US" smtClean="0"/>
              <a:t>8/11/25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B7BD6-C224-3050-EB55-04DA73A322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372F9-0D8A-6277-E920-D1E936CE50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2B0E64-D9DB-CC41-BF64-6F27BC4D4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44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011C497-D4C6-C2EA-44EB-5C355DFA85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8967" y="3602038"/>
            <a:ext cx="9144000" cy="1655762"/>
          </a:xfrm>
        </p:spPr>
        <p:txBody>
          <a:bodyPr/>
          <a:lstStyle/>
          <a:p>
            <a:pPr algn="l"/>
            <a:r>
              <a:rPr lang="en-US" dirty="0"/>
              <a:t>MAE598/494 Design Optimization</a:t>
            </a:r>
          </a:p>
          <a:p>
            <a:pPr algn="l"/>
            <a:r>
              <a:rPr lang="en-US" dirty="0"/>
              <a:t>Yi Ren</a:t>
            </a:r>
          </a:p>
          <a:p>
            <a:pPr algn="l"/>
            <a:r>
              <a:rPr lang="en-US" dirty="0"/>
              <a:t>ASU Fall 2025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FFF7E57-9E59-8151-EA3B-4EDD6FC84668}"/>
              </a:ext>
            </a:extLst>
          </p:cNvPr>
          <p:cNvSpPr txBox="1">
            <a:spLocks/>
          </p:cNvSpPr>
          <p:nvPr/>
        </p:nvSpPr>
        <p:spPr>
          <a:xfrm>
            <a:off x="846093" y="705245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>
                <a:solidFill>
                  <a:srgbClr val="0432FF"/>
                </a:solidFill>
              </a:rPr>
              <a:t>Gradient descent (GD) </a:t>
            </a:r>
            <a:br>
              <a:rPr lang="en-US" sz="4000" dirty="0">
                <a:solidFill>
                  <a:srgbClr val="0432FF"/>
                </a:solidFill>
              </a:rPr>
            </a:br>
            <a:r>
              <a:rPr lang="en-US" sz="4000" dirty="0">
                <a:solidFill>
                  <a:srgbClr val="0432FF"/>
                </a:solidFill>
              </a:rPr>
              <a:t>for unconstrained optimization</a:t>
            </a:r>
          </a:p>
        </p:txBody>
      </p:sp>
    </p:spTree>
    <p:extLst>
      <p:ext uri="{BB962C8B-B14F-4D97-AF65-F5344CB8AC3E}">
        <p14:creationId xmlns:p14="http://schemas.microsoft.com/office/powerpoint/2010/main" val="2862292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6D0BC-8FFB-0570-26CE-2737F1E89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GD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4D5906-A14C-68E5-66AC-4F9063B3C2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92522" cy="254744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ts val="4000"/>
                  </a:lnSpc>
                  <a:buNone/>
                </a:pPr>
                <a:r>
                  <a:rPr lang="en-US" sz="2400" dirty="0"/>
                  <a:t>Gradient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represents </a:t>
                </a:r>
                <a:r>
                  <a:rPr lang="en-US" sz="2400" dirty="0">
                    <a:solidFill>
                      <a:srgbClr val="0432FF"/>
                    </a:solidFill>
                  </a:rPr>
                  <a:t>the steepest ascending direction </a:t>
                </a:r>
                <a:r>
                  <a:rPr lang="en-US" sz="2400" dirty="0"/>
                  <a:t>of the scalar 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(why?). Therefore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the steepest descending direction.</a:t>
                </a:r>
              </a:p>
              <a:p>
                <a:pPr marL="0" indent="0">
                  <a:lnSpc>
                    <a:spcPts val="4000"/>
                  </a:lnSpc>
                  <a:buNone/>
                </a:pPr>
                <a:r>
                  <a:rPr lang="en-US" sz="2400" dirty="0"/>
                  <a:t>To minimize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without any constraints, we can iteratively apply the gradient descent step with a step size (learning rate)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/>
                  <a:t>: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b="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4D5906-A14C-68E5-66AC-4F9063B3C2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92522" cy="2547443"/>
              </a:xfrm>
              <a:blipFill>
                <a:blip r:embed="rId2"/>
                <a:stretch>
                  <a:fillRect l="-941" r="-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C7653ABC-BC4A-470C-26CE-966B1112CB6E}"/>
              </a:ext>
            </a:extLst>
          </p:cNvPr>
          <p:cNvSpPr/>
          <p:nvPr/>
        </p:nvSpPr>
        <p:spPr>
          <a:xfrm>
            <a:off x="899530" y="4455325"/>
            <a:ext cx="10169913" cy="12206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8B6513-AC89-F938-93FD-2B42C16CBB7B}"/>
                  </a:ext>
                </a:extLst>
              </p:cNvPr>
              <p:cNvSpPr txBox="1"/>
              <p:nvPr/>
            </p:nvSpPr>
            <p:spPr>
              <a:xfrm>
                <a:off x="2586417" y="4778298"/>
                <a:ext cx="701916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=1,2,… 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8B6513-AC89-F938-93FD-2B42C16CB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417" y="4778298"/>
                <a:ext cx="7019165" cy="492443"/>
              </a:xfrm>
              <a:prstGeom prst="rect">
                <a:avLst/>
              </a:prstGeom>
              <a:blipFill>
                <a:blip r:embed="rId3"/>
                <a:stretch>
                  <a:fillRect l="-361" t="-10000" r="-1805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0147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BA47A-4056-C617-BAF2-046A6FAB7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43D40-F63A-3741-7B7F-5195CFDD1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Gradient descent (GD)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6C11F-60E8-1975-6520-BD6B914F1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92522" cy="2547443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endParaRPr lang="en-US" sz="2400" b="0" dirty="0"/>
          </a:p>
          <a:p>
            <a:pPr marL="0" indent="0">
              <a:spcAft>
                <a:spcPts val="1200"/>
              </a:spcAft>
              <a:buNone/>
            </a:pPr>
            <a:endParaRPr lang="en-US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81DD0D-3886-D29C-BD97-A37043D4FAC3}"/>
              </a:ext>
            </a:extLst>
          </p:cNvPr>
          <p:cNvSpPr/>
          <p:nvPr/>
        </p:nvSpPr>
        <p:spPr>
          <a:xfrm>
            <a:off x="899530" y="4455325"/>
            <a:ext cx="10169913" cy="12206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045C1D-CA4A-AA8F-BA3F-BC486887236A}"/>
                  </a:ext>
                </a:extLst>
              </p:cNvPr>
              <p:cNvSpPr txBox="1"/>
              <p:nvPr/>
            </p:nvSpPr>
            <p:spPr>
              <a:xfrm>
                <a:off x="2586417" y="4778298"/>
                <a:ext cx="701916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=1,2,… 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045C1D-CA4A-AA8F-BA3F-BC48688723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417" y="4778298"/>
                <a:ext cx="7019165" cy="492443"/>
              </a:xfrm>
              <a:prstGeom prst="rect">
                <a:avLst/>
              </a:prstGeom>
              <a:blipFill>
                <a:blip r:embed="rId2"/>
                <a:stretch>
                  <a:fillRect l="-361" t="-10000" r="-1805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4112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59253-EF05-536E-875B-A072B3118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66A6B-45DD-5879-D152-746603A29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Termination criterion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353950-8FDB-08B8-C852-D9F5CF9EBA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353801" cy="254744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ts val="4000"/>
                  </a:lnSpc>
                  <a:buNone/>
                </a:pPr>
                <a:r>
                  <a:rPr lang="en-US" sz="2400" dirty="0"/>
                  <a:t>GD terminates when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b="0" dirty="0"/>
                  <a:t> 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b="0" dirty="0"/>
                  <a:t> (e.g.,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r>
                  <a:rPr lang="en-US" sz="2400" b="0" dirty="0"/>
                  <a:t>) determines soln. accuracy.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353950-8FDB-08B8-C852-D9F5CF9EBA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353801" cy="2547443"/>
              </a:xfrm>
              <a:blipFill>
                <a:blip r:embed="rId2"/>
                <a:stretch>
                  <a:fillRect l="-7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69B421B8-6507-71E1-F005-FBF338687328}"/>
              </a:ext>
            </a:extLst>
          </p:cNvPr>
          <p:cNvSpPr/>
          <p:nvPr/>
        </p:nvSpPr>
        <p:spPr>
          <a:xfrm>
            <a:off x="899530" y="2769711"/>
            <a:ext cx="10941371" cy="20222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20EF27A-F80C-4E16-34AD-F312B507439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2127" y="2897036"/>
                <a:ext cx="10709877" cy="189488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b="1" i="1" dirty="0"/>
                  <a:t>Necessary condition:</a:t>
                </a:r>
                <a:r>
                  <a:rPr lang="en-US" sz="2400" i="1" dirty="0"/>
                  <a:t>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i="1" dirty="0"/>
                  <a:t> is a local minimizer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i="1" dirty="0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i="1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≽0</m:t>
                    </m:r>
                  </m:oMath>
                </a14:m>
                <a:r>
                  <a:rPr lang="en-US" sz="2400" i="1" dirty="0"/>
                  <a:t>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b="1" i="1" dirty="0"/>
                  <a:t>Sufficient condition: </a:t>
                </a:r>
                <a:r>
                  <a:rPr lang="en-US" sz="2400" i="1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i="1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≻0</m:t>
                    </m:r>
                  </m:oMath>
                </a14:m>
                <a:r>
                  <a:rPr lang="en-US" sz="2400" i="1" dirty="0"/>
                  <a:t>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i="1" dirty="0"/>
                  <a:t> is a local minimizer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i="1" dirty="0"/>
                  <a:t>.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20EF27A-F80C-4E16-34AD-F312B5074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127" y="2897036"/>
                <a:ext cx="10709877" cy="1894882"/>
              </a:xfrm>
              <a:prstGeom prst="rect">
                <a:avLst/>
              </a:prstGeom>
              <a:blipFill>
                <a:blip r:embed="rId3"/>
                <a:stretch>
                  <a:fillRect l="-948" t="-4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40E4CE15-E6E8-925B-BF68-C7B8A585810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99530" y="4791918"/>
                <a:ext cx="11353801" cy="179895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4000"/>
                  </a:lnSpc>
                  <a:buNone/>
                </a:pPr>
                <a:r>
                  <a:rPr lang="en-US" sz="2400" b="1" dirty="0"/>
                  <a:t>Remark: </a:t>
                </a: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is convex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i="1" dirty="0"/>
                  <a:t>, </a:t>
                </a:r>
                <a:r>
                  <a:rPr lang="en-US" sz="2400" dirty="0"/>
                  <a:t>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is a global minimizer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(why?)</a:t>
                </a:r>
                <a:r>
                  <a:rPr lang="en-US" sz="2400" i="1" dirty="0"/>
                  <a:t>. </a:t>
                </a:r>
                <a:r>
                  <a:rPr lang="en-US" sz="2400" dirty="0"/>
                  <a:t>Further,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is strictly convex,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is unique (why?).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40E4CE15-E6E8-925B-BF68-C7B8A5858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30" y="4791918"/>
                <a:ext cx="11353801" cy="1798957"/>
              </a:xfrm>
              <a:prstGeom prst="rect">
                <a:avLst/>
              </a:prstGeom>
              <a:blipFill>
                <a:blip r:embed="rId4"/>
                <a:stretch>
                  <a:fillRect l="-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4435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3AA1-FB82-DD3C-E905-6A15733D6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DF2E4-4FD0-300C-212A-F8A88644F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Line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C43FE1-B49F-C8AA-8ABA-3DF26B6AD8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353801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GD with arbitrary step size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dirty="0"/>
                  <a:t> is not guaranteed to converge (why?).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b="1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b="1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b="1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b="1" dirty="0"/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b="1" dirty="0"/>
                  <a:t>Line search: </a:t>
                </a:r>
                <a:r>
                  <a:rPr lang="en-US" sz="2400" dirty="0"/>
                  <a:t>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/>
                  <a:t> so that 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(Sufficient decrease)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for descent direction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(Efficiency)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dirty="0"/>
                  <a:t> not too small</a:t>
                </a:r>
              </a:p>
              <a:p>
                <a:pPr>
                  <a:spcAft>
                    <a:spcPts val="1200"/>
                  </a:spcAft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C43FE1-B49F-C8AA-8ABA-3DF26B6AD8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353801" cy="5032375"/>
              </a:xfrm>
              <a:blipFill>
                <a:blip r:embed="rId2"/>
                <a:stretch>
                  <a:fillRect l="-781" t="-1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8359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E891E-72E6-0305-2B4B-874969F83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F2AEA-6B04-9BEC-66D4-BAE6B73DF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>
                <a:solidFill>
                  <a:srgbClr val="0432FF"/>
                </a:solidFill>
              </a:rPr>
              <a:t>Amijo</a:t>
            </a:r>
            <a:r>
              <a:rPr lang="en-US" sz="4000" dirty="0">
                <a:solidFill>
                  <a:srgbClr val="0432FF"/>
                </a:solidFill>
              </a:rPr>
              <a:t> line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F426EF-5C86-1A28-C079-678AEEB2C0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353801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b="1" dirty="0"/>
                  <a:t>Algorithm 1.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Amijo</a:t>
                </a:r>
                <a:r>
                  <a:rPr lang="en-US" sz="2400" dirty="0"/>
                  <a:t> line search</a:t>
                </a:r>
              </a:p>
              <a:p>
                <a:pPr marL="457200" indent="-457200">
                  <a:spcAft>
                    <a:spcPts val="1200"/>
                  </a:spcAft>
                  <a:buAutoNum type="arabicPeriod"/>
                </a:pPr>
                <a:r>
                  <a:rPr lang="en-US" sz="2400" dirty="0"/>
                  <a:t>Define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dirty="0"/>
                  <a:t>. Set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=0.8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457200" indent="-457200">
                  <a:spcAft>
                    <a:spcPts val="1200"/>
                  </a:spcAft>
                  <a:buAutoNum type="arabicPeriod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en-US" sz="2400" dirty="0"/>
                  <a:t>. Terminate.</a:t>
                </a:r>
              </a:p>
              <a:p>
                <a:pPr marL="457200" indent="-457200">
                  <a:spcAft>
                    <a:spcPts val="1200"/>
                  </a:spcAft>
                  <a:buAutoNum type="arabicPeriod"/>
                </a:pPr>
                <a:r>
                  <a:rPr lang="en-US" sz="2400" dirty="0"/>
                  <a:t>Else,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en-US" sz="2400" dirty="0"/>
                  <a:t>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400" dirty="0"/>
                  <a:t>. Go to 2.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b="1" dirty="0"/>
                  <a:t>Remark 1:</a:t>
                </a:r>
                <a:r>
                  <a:rPr lang="en-US" sz="2400" dirty="0"/>
                  <a:t> Parameters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can be any number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[0.1,0.9]</m:t>
                    </m:r>
                  </m:oMath>
                </a14:m>
                <a:r>
                  <a:rPr lang="en-US" sz="2400" dirty="0"/>
                  <a:t>. Optimal parameters are problem dependent.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b="1" dirty="0"/>
                  <a:t>Remark 2:</a:t>
                </a:r>
                <a:r>
                  <a:rPr lang="en-US" sz="2400" dirty="0"/>
                  <a:t> While effective, line search is rarely used in AI training where gradient approximation is used (why?). How do we converge GD in this case?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>
                  <a:spcAft>
                    <a:spcPts val="1200"/>
                  </a:spcAft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F426EF-5C86-1A28-C079-678AEEB2C0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353801" cy="5032375"/>
              </a:xfrm>
              <a:blipFill>
                <a:blip r:embed="rId2"/>
                <a:stretch>
                  <a:fillRect l="-781" t="-1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7531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82D8A-07CE-96A1-4C01-8C708F6BD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9250E-EC91-C8BF-FCE6-97987738C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>
                <a:solidFill>
                  <a:srgbClr val="0432FF"/>
                </a:solidFill>
              </a:rPr>
              <a:t>Amijo</a:t>
            </a:r>
            <a:r>
              <a:rPr lang="en-US" sz="4000" dirty="0">
                <a:solidFill>
                  <a:srgbClr val="0432FF"/>
                </a:solidFill>
              </a:rPr>
              <a:t> line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8D34D-6FDB-7FD6-87C5-92CC7BFB6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353801" cy="5032375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sz="2400" dirty="0"/>
              <a:t>Demo.</a:t>
            </a:r>
          </a:p>
          <a:p>
            <a:pPr>
              <a:spcAft>
                <a:spcPts val="1200"/>
              </a:spcAft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51384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50AAD-4E85-4CE1-BD30-8D4D8926B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A9C7A-FF5C-60A3-9BEA-7A101E456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GD convergence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FEA325-6B0E-7058-5DA0-3AE2B7B51A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353801" cy="3116765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b="1" dirty="0"/>
                  <a:t>Overview</a:t>
                </a:r>
              </a:p>
              <a:p>
                <a:pPr marL="457200" indent="-457200">
                  <a:spcAft>
                    <a:spcPts val="1200"/>
                  </a:spcAft>
                  <a:buAutoNum type="arabicPeriod"/>
                </a:pPr>
                <a:r>
                  <a:rPr lang="en-US" sz="2400" dirty="0"/>
                  <a:t>GD converges to local minimum of a smooth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457200" indent="-457200">
                  <a:spcAft>
                    <a:spcPts val="1200"/>
                  </a:spcAft>
                  <a:buAutoNum type="arabicPeriod"/>
                </a:pPr>
                <a:r>
                  <a:rPr lang="en-US" sz="2400" dirty="0"/>
                  <a:t>For strictly convex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, GD converges with a linear rate.</a:t>
                </a:r>
              </a:p>
              <a:p>
                <a:pPr marL="457200" indent="-457200">
                  <a:spcAft>
                    <a:spcPts val="1200"/>
                  </a:spcAft>
                  <a:buAutoNum type="arabicPeriod"/>
                </a:pPr>
                <a:r>
                  <a:rPr lang="en-US" sz="2400" dirty="0"/>
                  <a:t>The convergence is slower when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is more ill-conditioned.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FEA325-6B0E-7058-5DA0-3AE2B7B51A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353801" cy="3116765"/>
              </a:xfrm>
              <a:blipFill>
                <a:blip r:embed="rId2"/>
                <a:stretch>
                  <a:fillRect l="-781" t="-28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1526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D502B-6E8E-0F32-6E04-0E4414B44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30D14-E859-90BC-8097-DC6A4C0EC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GD convergence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85B06C-3279-6FA1-B76B-97F8A13D3F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353801" cy="4667250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b="1" dirty="0"/>
                  <a:t>Assumptions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b="1" dirty="0">
                    <a:solidFill>
                      <a:srgbClr val="0432FF"/>
                    </a:solidFill>
                  </a:rPr>
                  <a:t>A1</a:t>
                </a:r>
                <a:r>
                  <a:rPr lang="en-US" sz="2400" dirty="0">
                    <a:solidFill>
                      <a:srgbClr val="0432FF"/>
                    </a:solidFill>
                  </a:rPr>
                  <a:t> (L-smoothness):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begChr m:val="‖"/>
                        <m:endChr m:val="‖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 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b="1" dirty="0">
                    <a:solidFill>
                      <a:srgbClr val="0432FF"/>
                    </a:solidFill>
                  </a:rPr>
                  <a:t>A2</a:t>
                </a:r>
                <a:r>
                  <a:rPr lang="en-US" sz="2400" dirty="0">
                    <a:solidFill>
                      <a:srgbClr val="0432FF"/>
                    </a:solidFill>
                  </a:rPr>
                  <a:t> (Convexity):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⟨"/>
                        <m:endChr m:val="⟩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 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b="1" dirty="0">
                    <a:solidFill>
                      <a:srgbClr val="0432FF"/>
                    </a:solidFill>
                  </a:rPr>
                  <a:t>A3</a:t>
                </a:r>
                <a:r>
                  <a:rPr lang="en-US" sz="2400" dirty="0">
                    <a:solidFill>
                      <a:srgbClr val="0432FF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>
                    <a:solidFill>
                      <a:srgbClr val="0432FF"/>
                    </a:solidFill>
                  </a:rPr>
                  <a:t>-strong convexity):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⟨"/>
                        <m:endChr m:val="⟩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 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b="1" dirty="0">
                    <a:solidFill>
                      <a:srgbClr val="0432FF"/>
                    </a:solidFill>
                  </a:rPr>
                  <a:t>A4</a:t>
                </a:r>
                <a:r>
                  <a:rPr lang="en-US" sz="2400" dirty="0">
                    <a:solidFill>
                      <a:srgbClr val="0432FF"/>
                    </a:solidFill>
                  </a:rPr>
                  <a:t> (Hessian Lipschitz):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begChr m:val="‖"/>
                        <m:endChr m:val="‖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 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85B06C-3279-6FA1-B76B-97F8A13D3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353801" cy="4667250"/>
              </a:xfrm>
              <a:blipFill>
                <a:blip r:embed="rId2"/>
                <a:stretch>
                  <a:fillRect l="-781" t="-1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4482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D1029-6B03-74E8-E414-2A83D3102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A62C59-EE59-9EBE-BD87-281CD4D4322B}"/>
              </a:ext>
            </a:extLst>
          </p:cNvPr>
          <p:cNvSpPr/>
          <p:nvPr/>
        </p:nvSpPr>
        <p:spPr>
          <a:xfrm>
            <a:off x="899530" y="1658542"/>
            <a:ext cx="10941371" cy="16033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EF9C1-1E16-76A1-0AD2-26EB3519D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GD convergence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2A0330-23D6-DA3D-4E97-469F112B63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9223" y="1733025"/>
                <a:ext cx="10863806" cy="1603375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b="1" dirty="0"/>
                  <a:t>Proposition 1 (convergence for non-convex smooth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US" sz="2400" b="1" dirty="0"/>
                  <a:t>):</a:t>
                </a:r>
                <a:r>
                  <a:rPr lang="en-US" sz="2400" dirty="0"/>
                  <a:t> Under A1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∈(0,2/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GD decreases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monotonically and </a:t>
                </a: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lim>
                      </m:limLow>
                      <m:d>
                        <m:dPr>
                          <m:begChr m:val="‖"/>
                          <m:endChr m:val="‖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−1/2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2A0330-23D6-DA3D-4E97-469F112B63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9223" y="1733025"/>
                <a:ext cx="10863806" cy="1603375"/>
              </a:xfrm>
              <a:blipFill>
                <a:blip r:embed="rId2"/>
                <a:stretch>
                  <a:fillRect l="-935" t="-55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0867B4-3FB2-A2A5-D619-F9CFB62EDAF4}"/>
                  </a:ext>
                </a:extLst>
              </p:cNvPr>
              <p:cNvSpPr txBox="1"/>
              <p:nvPr/>
            </p:nvSpPr>
            <p:spPr>
              <a:xfrm>
                <a:off x="919223" y="3521601"/>
                <a:ext cx="10921678" cy="10752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lnSpc>
                    <a:spcPts val="4000"/>
                  </a:lnSpc>
                </a:pPr>
                <a:r>
                  <a:rPr lang="en-US" sz="2400" b="1" dirty="0">
                    <a:solidFill>
                      <a:prstClr val="black"/>
                    </a:solidFill>
                  </a:rPr>
                  <a:t>Remark: </a:t>
                </a:r>
                <a:r>
                  <a:rPr lang="en-US" sz="2400" dirty="0">
                    <a:solidFill>
                      <a:prstClr val="black"/>
                    </a:solidFill>
                  </a:rPr>
                  <a:t>Given</a:t>
                </a:r>
                <a:r>
                  <a:rPr lang="en-US" sz="2400" b="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, GD takes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iterations. Problematic for engineering design when each iteration takes hours/days of simulations.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0867B4-3FB2-A2A5-D619-F9CFB62EDA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223" y="3521601"/>
                <a:ext cx="10921678" cy="1075231"/>
              </a:xfrm>
              <a:prstGeom prst="rect">
                <a:avLst/>
              </a:prstGeom>
              <a:blipFill>
                <a:blip r:embed="rId3"/>
                <a:stretch>
                  <a:fillRect l="-929" r="-348" b="-1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6221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4DF53-7DBA-EAC9-5D0A-2BAA19306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C7ECEE-1482-248A-7EBE-7ECD6293C2EF}"/>
              </a:ext>
            </a:extLst>
          </p:cNvPr>
          <p:cNvSpPr/>
          <p:nvPr/>
        </p:nvSpPr>
        <p:spPr>
          <a:xfrm>
            <a:off x="899530" y="1658542"/>
            <a:ext cx="10941371" cy="16033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A6BCD4-D74A-6619-2923-FB4A8FCB8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GD convergence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4B1B30-988C-6BA2-8E9A-79E319195D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9223" y="1733025"/>
                <a:ext cx="10863806" cy="1603375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b="1" dirty="0"/>
                  <a:t>Proposition 2 (convergence for convex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US" sz="2400" b="1" dirty="0"/>
                  <a:t>):</a:t>
                </a:r>
                <a:r>
                  <a:rPr lang="en-US" sz="2400" dirty="0"/>
                  <a:t> Under A1+A2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=1/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400" dirty="0"/>
                  <a:t>,</a:t>
                </a: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4B1B30-988C-6BA2-8E9A-79E319195D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9223" y="1733025"/>
                <a:ext cx="10863806" cy="1603375"/>
              </a:xfrm>
              <a:blipFill>
                <a:blip r:embed="rId2"/>
                <a:stretch>
                  <a:fillRect l="-935" t="-55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8EE74AC-D67C-6ECD-8CD2-6A44E8DB190C}"/>
                  </a:ext>
                </a:extLst>
              </p:cNvPr>
              <p:cNvSpPr txBox="1"/>
              <p:nvPr/>
            </p:nvSpPr>
            <p:spPr>
              <a:xfrm>
                <a:off x="919223" y="3521601"/>
                <a:ext cx="10921678" cy="10752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lnSpc>
                    <a:spcPts val="4000"/>
                  </a:lnSpc>
                </a:pPr>
                <a:r>
                  <a:rPr lang="en-US" sz="2400" b="1" dirty="0">
                    <a:solidFill>
                      <a:prstClr val="black"/>
                    </a:solidFill>
                  </a:rPr>
                  <a:t>Remark: </a:t>
                </a:r>
                <a:r>
                  <a:rPr lang="en-US" sz="2400" dirty="0">
                    <a:solidFill>
                      <a:prstClr val="black"/>
                    </a:solidFill>
                  </a:rPr>
                  <a:t>Convergence rate for convex and L-smooth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is at least </a:t>
                </a:r>
                <a:r>
                  <a:rPr lang="en-US" sz="2400" dirty="0">
                    <a:solidFill>
                      <a:srgbClr val="0432FF"/>
                    </a:solidFill>
                  </a:rPr>
                  <a:t>sub-linear</a:t>
                </a:r>
                <a:r>
                  <a:rPr lang="en-US" sz="2400" dirty="0">
                    <a:solidFill>
                      <a:prstClr val="black"/>
                    </a:solidFill>
                  </a:rPr>
                  <a:t>. Doubling accuracy doubles iterations.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8EE74AC-D67C-6ECD-8CD2-6A44E8DB1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223" y="3521601"/>
                <a:ext cx="10921678" cy="1075231"/>
              </a:xfrm>
              <a:prstGeom prst="rect">
                <a:avLst/>
              </a:prstGeom>
              <a:blipFill>
                <a:blip r:embed="rId3"/>
                <a:stretch>
                  <a:fillRect l="-929" b="-1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5191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8E0C6-51E1-6AD2-F729-8B272D3C8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FF5C506-B039-2DBA-6F92-C063142A8BB0}"/>
              </a:ext>
            </a:extLst>
          </p:cNvPr>
          <p:cNvSpPr/>
          <p:nvPr/>
        </p:nvSpPr>
        <p:spPr>
          <a:xfrm>
            <a:off x="899530" y="1658542"/>
            <a:ext cx="10941371" cy="16033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F16A47-BA8B-2A64-FEBE-4AB6B117D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GD convergence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F3F7EB-8A41-485D-B682-6CE4042914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9223" y="1733025"/>
                <a:ext cx="10863806" cy="1863058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b="1" dirty="0"/>
                  <a:t>Proposition 3 (convergence for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sz="2400" b="1" dirty="0"/>
                  <a:t>-strongly convex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US" sz="2400" b="1" dirty="0"/>
                  <a:t>):</a:t>
                </a:r>
                <a:r>
                  <a:rPr lang="en-US" sz="2400" dirty="0"/>
                  <a:t> Under A1+A3 with optimal step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𝜅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US" sz="2400" dirty="0"/>
                  <a:t>,</a:t>
                </a: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F3F7EB-8A41-485D-B682-6CE4042914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9223" y="1733025"/>
                <a:ext cx="10863806" cy="1863058"/>
              </a:xfrm>
              <a:blipFill>
                <a:blip r:embed="rId2"/>
                <a:stretch>
                  <a:fillRect l="-935" t="-4730" r="-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85E7A8-3E4C-8D9C-3D64-1F8F6C22B30C}"/>
                  </a:ext>
                </a:extLst>
              </p:cNvPr>
              <p:cNvSpPr txBox="1"/>
              <p:nvPr/>
            </p:nvSpPr>
            <p:spPr>
              <a:xfrm>
                <a:off x="919223" y="3521601"/>
                <a:ext cx="10921678" cy="26141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lnSpc>
                    <a:spcPts val="4000"/>
                  </a:lnSpc>
                </a:pPr>
                <a:r>
                  <a:rPr lang="en-US" sz="2400" b="1" dirty="0">
                    <a:solidFill>
                      <a:prstClr val="black"/>
                    </a:solidFill>
                  </a:rPr>
                  <a:t>Remark 1: </a:t>
                </a:r>
                <a:r>
                  <a:rPr lang="en-US" sz="2400" dirty="0">
                    <a:solidFill>
                      <a:prstClr val="black"/>
                    </a:solidFill>
                  </a:rPr>
                  <a:t>Convergence rate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/>
                  <a:t>-strongly </a:t>
                </a:r>
                <a:r>
                  <a:rPr lang="en-US" sz="2400" dirty="0">
                    <a:solidFill>
                      <a:prstClr val="black"/>
                    </a:solidFill>
                  </a:rPr>
                  <a:t>convex and L-smooth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is </a:t>
                </a:r>
                <a:r>
                  <a:rPr lang="en-US" sz="2400" dirty="0">
                    <a:solidFill>
                      <a:srgbClr val="0432FF"/>
                    </a:solidFill>
                  </a:rPr>
                  <a:t>linear</a:t>
                </a:r>
                <a:r>
                  <a:rPr lang="en-US" sz="2400" dirty="0">
                    <a:solidFill>
                      <a:prstClr val="black"/>
                    </a:solidFill>
                  </a:rPr>
                  <a:t>. Cut the error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requires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iterations.</a:t>
                </a:r>
              </a:p>
              <a:p>
                <a:pPr lvl="0">
                  <a:lnSpc>
                    <a:spcPts val="4000"/>
                  </a:lnSpc>
                </a:pPr>
                <a:endParaRPr lang="en-US" sz="2400" dirty="0">
                  <a:solidFill>
                    <a:prstClr val="black"/>
                  </a:solidFill>
                </a:endParaRPr>
              </a:p>
              <a:p>
                <a:pPr lvl="0">
                  <a:lnSpc>
                    <a:spcPts val="4000"/>
                  </a:lnSpc>
                </a:pPr>
                <a:r>
                  <a:rPr lang="en-US" sz="2400" b="1" dirty="0">
                    <a:solidFill>
                      <a:prstClr val="black"/>
                    </a:solidFill>
                  </a:rPr>
                  <a:t>Remark 2: </a:t>
                </a:r>
                <a:r>
                  <a:rPr lang="en-US" sz="2400" dirty="0">
                    <a:solidFill>
                      <a:prstClr val="black"/>
                    </a:solidFill>
                  </a:rPr>
                  <a:t>Problems with ill-conditioned Hessian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𝜅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) may converge infinitely slow.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85E7A8-3E4C-8D9C-3D64-1F8F6C22B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223" y="3521601"/>
                <a:ext cx="10921678" cy="2614114"/>
              </a:xfrm>
              <a:prstGeom prst="rect">
                <a:avLst/>
              </a:prstGeom>
              <a:blipFill>
                <a:blip r:embed="rId3"/>
                <a:stretch>
                  <a:fillRect l="-929" r="-232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1436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4B220-4AE5-0302-2112-EBEDFE0E6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CE546-0EA0-435E-5622-151180947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GD convergence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2EC79-4F59-1507-585F-F66D2B19F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353801" cy="3116765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sz="2400" b="1" dirty="0"/>
              <a:t>Proof of Prop. 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37068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5C422-A730-A1FE-1F06-E60BC0BF4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DE1E7-E4CA-1B9E-5D3A-BEB02EE9A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GD convergence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A1F4C-E6CB-9767-ADA3-DC751F701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353801" cy="3116765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sz="2400" b="1" dirty="0"/>
              <a:t>Proof of Prop. 2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11674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E87F6-317C-F872-1798-C5FAA6699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66CC5-6FF7-6233-EF49-145E35661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GD convergence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3C5DC-5954-B661-DFA1-DC1BE420A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353801" cy="3116765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sz="2400" b="1" dirty="0"/>
              <a:t>Proof of Prop. 3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23390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DCB1E-161F-8916-09FA-934C1BD3C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B0AB1-0C07-8B2E-0A6E-B10922828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Conjugate gradient (CG)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E57DED-A0C3-BF9E-2833-E363AD2DDA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582550"/>
                <a:ext cx="10678611" cy="4945565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CG alleviates the convergence issue of GD. Consider first a quadratic problem: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sz="2400" dirty="0"/>
                  <a:t> is symmetric and </a:t>
                </a:r>
                <a:r>
                  <a:rPr lang="en-US" sz="2400" dirty="0" err="1"/>
                  <a:t>p.d.</a:t>
                </a:r>
                <a:r>
                  <a:rPr lang="en-US" sz="2400" dirty="0"/>
                  <a:t> This problem is equivalent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. Convergence rate of GD depends 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lang="en-US" sz="2400" dirty="0"/>
                  <a:t> (condition number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).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E57DED-A0C3-BF9E-2833-E363AD2DDA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582550"/>
                <a:ext cx="10678611" cy="4945565"/>
              </a:xfrm>
              <a:blipFill>
                <a:blip r:embed="rId2"/>
                <a:stretch>
                  <a:fillRect l="-831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826B3138-A82A-86A1-8D84-EFA066FF67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4387533"/>
                  </p:ext>
                </p:extLst>
              </p:nvPr>
            </p:nvGraphicFramePr>
            <p:xfrm>
              <a:off x="1664663" y="2203898"/>
              <a:ext cx="9025682" cy="8902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3116440096"/>
                        </a:ext>
                      </a:extLst>
                    </a:gridCol>
                    <a:gridCol w="6282482">
                      <a:extLst>
                        <a:ext uri="{9D8B030D-6E8A-4147-A177-3AD203B41FA5}">
                          <a16:colId xmlns:a16="http://schemas.microsoft.com/office/drawing/2014/main" val="3321282949"/>
                        </a:ext>
                      </a:extLst>
                    </a:gridCol>
                  </a:tblGrid>
                  <a:tr h="14738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limLow>
                                  <m:limLow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</m:e>
                                  <m:lim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lim>
                                </m:limLow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⊤</m:t>
                                    </m:r>
                                  </m:sup>
                                </m:sSup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𝐴𝑥</m:t>
                                </m:r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⊤</m:t>
                                    </m:r>
                                  </m:sup>
                                </m:sSup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3040362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826B3138-A82A-86A1-8D84-EFA066FF67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4387533"/>
                  </p:ext>
                </p:extLst>
              </p:nvPr>
            </p:nvGraphicFramePr>
            <p:xfrm>
              <a:off x="1664663" y="2203898"/>
              <a:ext cx="9025682" cy="8902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3116440096"/>
                        </a:ext>
                      </a:extLst>
                    </a:gridCol>
                    <a:gridCol w="6282482">
                      <a:extLst>
                        <a:ext uri="{9D8B030D-6E8A-4147-A177-3AD203B41FA5}">
                          <a16:colId xmlns:a16="http://schemas.microsoft.com/office/drawing/2014/main" val="3321282949"/>
                        </a:ext>
                      </a:extLst>
                    </a:gridCol>
                  </a:tblGrid>
                  <a:tr h="8902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r="-229167" b="-84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3636" b="-84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040362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35864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77281-EA76-E42F-072A-A8E62088F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D9ECE-B3C8-1A99-EAB1-C844D5A59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Newton’s method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D59ACA-AFAC-41A1-F5C0-BB3BE87DAC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582550"/>
                <a:ext cx="10678611" cy="4945565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GD convergence rate affected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. Thus, we should normalize the search using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: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D59ACA-AFAC-41A1-F5C0-BB3BE87DAC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582550"/>
                <a:ext cx="10678611" cy="4945565"/>
              </a:xfrm>
              <a:blipFill>
                <a:blip r:embed="rId2"/>
                <a:stretch>
                  <a:fillRect l="-831" t="-15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36C0128F-DD84-B26B-A4B0-C36441791788}"/>
              </a:ext>
            </a:extLst>
          </p:cNvPr>
          <p:cNvSpPr/>
          <p:nvPr/>
        </p:nvSpPr>
        <p:spPr>
          <a:xfrm>
            <a:off x="899530" y="2429753"/>
            <a:ext cx="10169913" cy="8826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13F8AC3-5AF1-8D15-0C46-D89A4EA995A5}"/>
                  </a:ext>
                </a:extLst>
              </p:cNvPr>
              <p:cNvSpPr txBox="1"/>
              <p:nvPr/>
            </p:nvSpPr>
            <p:spPr>
              <a:xfrm>
                <a:off x="1915083" y="2602254"/>
                <a:ext cx="844147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3200" b="0" i="0" smtClean="0"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=1,2,… 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7ABA85-94F4-C5AA-E640-E7AD4851C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5083" y="2602254"/>
                <a:ext cx="8441478" cy="492443"/>
              </a:xfrm>
              <a:prstGeom prst="rect">
                <a:avLst/>
              </a:prstGeom>
              <a:blipFill>
                <a:blip r:embed="rId3"/>
                <a:stretch>
                  <a:fillRect l="-150" t="-7500" r="-1502" b="-3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00747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4028D-747A-7074-A427-90670C8F5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D6260-DE32-FC20-C68F-2B00E7820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Newton’s method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42DC82-0FA6-2D5F-20B2-5D01F01C5F65}"/>
              </a:ext>
            </a:extLst>
          </p:cNvPr>
          <p:cNvSpPr/>
          <p:nvPr/>
        </p:nvSpPr>
        <p:spPr>
          <a:xfrm>
            <a:off x="899530" y="1591202"/>
            <a:ext cx="10169914" cy="20779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68C2B94-6DD4-2ADE-1075-141E1633A6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99530" y="1665684"/>
                <a:ext cx="10169913" cy="216553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Aft>
                    <a:spcPts val="1200"/>
                  </a:spcAft>
                  <a:buFont typeface="Arial" panose="020B0604020202020204" pitchFamily="34" charset="0"/>
                  <a:buNone/>
                </a:pPr>
                <a:r>
                  <a:rPr lang="en-US" sz="2400" b="1" dirty="0"/>
                  <a:t>Proposition 4 (quadratic convergence of Newton’s method):</a:t>
                </a:r>
                <a:r>
                  <a:rPr lang="en-US" sz="2400" dirty="0"/>
                  <a:t> </a:t>
                </a:r>
              </a:p>
              <a:p>
                <a:pPr marL="0" indent="0">
                  <a:spcAft>
                    <a:spcPts val="1200"/>
                  </a:spcAft>
                  <a:buFont typeface="Arial" panose="020B0604020202020204" pitchFamily="34" charset="0"/>
                  <a:buNone/>
                </a:pPr>
                <a:r>
                  <a:rPr lang="en-US" sz="2400" dirty="0"/>
                  <a:t>Under A1+A3+A4,</a:t>
                </a: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spcAft>
                    <a:spcPts val="1200"/>
                  </a:spcAft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400" b="1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68C2B94-6DD4-2ADE-1075-141E1633A6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30" y="1665684"/>
                <a:ext cx="10169913" cy="2165531"/>
              </a:xfrm>
              <a:prstGeom prst="rect">
                <a:avLst/>
              </a:prstGeom>
              <a:blipFill>
                <a:blip r:embed="rId2"/>
                <a:stretch>
                  <a:fillRect l="-999" t="-4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61256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65B89-076C-4310-F079-27B3C1B3B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BAE86-B77E-6C35-7A6E-4D56B2B27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Newton’s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737B9-D2B2-6A24-3032-DF1B673FC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353801" cy="3116765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sz="2400" b="1" dirty="0"/>
              <a:t>Proof of Prop. 4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277522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B7F28-47D5-2D48-D0DA-AF1BBAF81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1C28C-F639-9011-D798-15B565DFC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Summary of gradient-based algorithms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271DA51-1D5B-EE87-A78D-D97F7E1366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3935218"/>
                  </p:ext>
                </p:extLst>
              </p:nvPr>
            </p:nvGraphicFramePr>
            <p:xfrm>
              <a:off x="932404" y="1645636"/>
              <a:ext cx="10896922" cy="3983499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48148">
                      <a:extLst>
                        <a:ext uri="{9D8B030D-6E8A-4147-A177-3AD203B41FA5}">
                          <a16:colId xmlns:a16="http://schemas.microsoft.com/office/drawing/2014/main" val="1033946453"/>
                        </a:ext>
                      </a:extLst>
                    </a:gridCol>
                    <a:gridCol w="3402298">
                      <a:extLst>
                        <a:ext uri="{9D8B030D-6E8A-4147-A177-3AD203B41FA5}">
                          <a16:colId xmlns:a16="http://schemas.microsoft.com/office/drawing/2014/main" val="997767208"/>
                        </a:ext>
                      </a:extLst>
                    </a:gridCol>
                    <a:gridCol w="3055439">
                      <a:extLst>
                        <a:ext uri="{9D8B030D-6E8A-4147-A177-3AD203B41FA5}">
                          <a16:colId xmlns:a16="http://schemas.microsoft.com/office/drawing/2014/main" val="493229036"/>
                        </a:ext>
                      </a:extLst>
                    </a:gridCol>
                    <a:gridCol w="2991037">
                      <a:extLst>
                        <a:ext uri="{9D8B030D-6E8A-4147-A177-3AD203B41FA5}">
                          <a16:colId xmlns:a16="http://schemas.microsoft.com/office/drawing/2014/main" val="991271607"/>
                        </a:ext>
                      </a:extLst>
                    </a:gridCol>
                  </a:tblGrid>
                  <a:tr h="823722"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Method</a:t>
                          </a:r>
                        </a:p>
                      </a:txBody>
                      <a:tcPr anchor="b"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Convergence rate</a:t>
                          </a:r>
                        </a:p>
                      </a:txBody>
                      <a:tcPr anchor="b"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Global convergence?</a:t>
                          </a:r>
                        </a:p>
                      </a:txBody>
                      <a:tcPr anchor="b"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/>
                            <a:t>Cost per </a:t>
                          </a:r>
                          <a:r>
                            <a:rPr lang="en-US" sz="2000" b="1" dirty="0" err="1"/>
                            <a:t>iter</a:t>
                          </a:r>
                          <a:r>
                            <a:rPr lang="en-US" sz="2000" b="1" dirty="0"/>
                            <a:t>.</a:t>
                          </a:r>
                        </a:p>
                      </a:txBody>
                      <a:tcPr anchor="b"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94263671"/>
                      </a:ext>
                    </a:extLst>
                  </a:tr>
                  <a:tr h="823722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GD</a:t>
                          </a:r>
                        </a:p>
                      </a:txBody>
                      <a:tcPr anchor="ctr"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US" sz="2000" dirty="0">
                              <a:solidFill>
                                <a:srgbClr val="0432FF"/>
                              </a:solidFill>
                            </a:rPr>
                            <a:t>Linear</a:t>
                          </a:r>
                          <a:r>
                            <a:rPr lang="en-US" sz="2000" dirty="0"/>
                            <a:t> (A1+A3)</a:t>
                          </a:r>
                        </a:p>
                      </a:txBody>
                      <a:tcPr anchor="ctr"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US" sz="2000" dirty="0"/>
                            <a:t>Yes w/ line search (A1)</a:t>
                          </a:r>
                        </a:p>
                      </a:txBody>
                      <a:tcPr anchor="ctr"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04291869"/>
                      </a:ext>
                    </a:extLst>
                  </a:tr>
                  <a:tr h="688611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Newton’s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US" sz="2000" dirty="0">
                              <a:solidFill>
                                <a:srgbClr val="0432FF"/>
                              </a:solidFill>
                            </a:rPr>
                            <a:t>Quadratic</a:t>
                          </a:r>
                          <a:r>
                            <a:rPr lang="en-US" sz="2000" dirty="0"/>
                            <a:t> (A3+A4)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US" sz="2000" dirty="0"/>
                            <a:t>Only if A3</a:t>
                          </a:r>
                          <a:endParaRPr lang="en-US" sz="2000" dirty="0">
                            <a:solidFill>
                              <a:srgbClr val="0432FF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Sup>
                                  <m:sSub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b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77240565"/>
                      </a:ext>
                    </a:extLst>
                  </a:tr>
                  <a:tr h="823722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Trust region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 err="1">
                              <a:solidFill>
                                <a:srgbClr val="0432FF"/>
                              </a:solidFill>
                            </a:rPr>
                            <a:t>Superlinear</a:t>
                          </a:r>
                          <a:r>
                            <a:rPr lang="en-US" sz="2000" dirty="0">
                              <a:solidFill>
                                <a:srgbClr val="0432FF"/>
                              </a:solidFill>
                            </a:rPr>
                            <a:t> or quadratic </a:t>
                          </a: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(A1)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Yes for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dirty="0"/>
                            <a:t> functions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2000" dirty="0"/>
                            <a:t> w/ CG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34791145"/>
                      </a:ext>
                    </a:extLst>
                  </a:tr>
                  <a:tr h="823722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L-BFGS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 err="1">
                              <a:solidFill>
                                <a:srgbClr val="0432FF"/>
                              </a:solidFill>
                            </a:rPr>
                            <a:t>Superlinear</a:t>
                          </a:r>
                          <a:r>
                            <a:rPr lang="en-US" sz="2000" dirty="0"/>
                            <a:t> (A3)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Yes w/ line search (A1)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2000" dirty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r>
                            <a:rPr lang="en-US" sz="2000" dirty="0"/>
                            <a:t>=memory size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81507944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271DA51-1D5B-EE87-A78D-D97F7E1366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3935218"/>
                  </p:ext>
                </p:extLst>
              </p:nvPr>
            </p:nvGraphicFramePr>
            <p:xfrm>
              <a:off x="932404" y="1645636"/>
              <a:ext cx="10896922" cy="3983499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48148">
                      <a:extLst>
                        <a:ext uri="{9D8B030D-6E8A-4147-A177-3AD203B41FA5}">
                          <a16:colId xmlns:a16="http://schemas.microsoft.com/office/drawing/2014/main" val="1033946453"/>
                        </a:ext>
                      </a:extLst>
                    </a:gridCol>
                    <a:gridCol w="3402298">
                      <a:extLst>
                        <a:ext uri="{9D8B030D-6E8A-4147-A177-3AD203B41FA5}">
                          <a16:colId xmlns:a16="http://schemas.microsoft.com/office/drawing/2014/main" val="997767208"/>
                        </a:ext>
                      </a:extLst>
                    </a:gridCol>
                    <a:gridCol w="3055439">
                      <a:extLst>
                        <a:ext uri="{9D8B030D-6E8A-4147-A177-3AD203B41FA5}">
                          <a16:colId xmlns:a16="http://schemas.microsoft.com/office/drawing/2014/main" val="493229036"/>
                        </a:ext>
                      </a:extLst>
                    </a:gridCol>
                    <a:gridCol w="2991037">
                      <a:extLst>
                        <a:ext uri="{9D8B030D-6E8A-4147-A177-3AD203B41FA5}">
                          <a16:colId xmlns:a16="http://schemas.microsoft.com/office/drawing/2014/main" val="991271607"/>
                        </a:ext>
                      </a:extLst>
                    </a:gridCol>
                  </a:tblGrid>
                  <a:tr h="823722"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Method</a:t>
                          </a:r>
                        </a:p>
                      </a:txBody>
                      <a:tcPr anchor="b"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Convergence rate</a:t>
                          </a:r>
                        </a:p>
                      </a:txBody>
                      <a:tcPr anchor="b"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Global convergence?</a:t>
                          </a:r>
                        </a:p>
                      </a:txBody>
                      <a:tcPr anchor="b"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/>
                            <a:t>Cost per </a:t>
                          </a:r>
                          <a:r>
                            <a:rPr lang="en-US" sz="2000" b="1" dirty="0" err="1"/>
                            <a:t>iter</a:t>
                          </a:r>
                          <a:r>
                            <a:rPr lang="en-US" sz="2000" b="1" dirty="0"/>
                            <a:t>.</a:t>
                          </a:r>
                        </a:p>
                      </a:txBody>
                      <a:tcPr anchor="b"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94263671"/>
                      </a:ext>
                    </a:extLst>
                  </a:tr>
                  <a:tr h="823722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GD</a:t>
                          </a:r>
                        </a:p>
                      </a:txBody>
                      <a:tcPr anchor="ctr"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US" sz="2000" dirty="0">
                              <a:solidFill>
                                <a:srgbClr val="0432FF"/>
                              </a:solidFill>
                            </a:rPr>
                            <a:t>Linear</a:t>
                          </a:r>
                          <a:r>
                            <a:rPr lang="en-US" sz="2000" dirty="0"/>
                            <a:t> (A1+A3)</a:t>
                          </a:r>
                        </a:p>
                      </a:txBody>
                      <a:tcPr anchor="ctr"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US" sz="2000" dirty="0"/>
                            <a:t>Yes w/ line search (A1)</a:t>
                          </a:r>
                        </a:p>
                      </a:txBody>
                      <a:tcPr anchor="ctr"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4407" t="-100000" r="-847" b="-28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04291869"/>
                      </a:ext>
                    </a:extLst>
                  </a:tr>
                  <a:tr h="688611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Newton’s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US" sz="2000" dirty="0">
                              <a:solidFill>
                                <a:srgbClr val="0432FF"/>
                              </a:solidFill>
                            </a:rPr>
                            <a:t>Quadratic</a:t>
                          </a:r>
                          <a:r>
                            <a:rPr lang="en-US" sz="2000" dirty="0"/>
                            <a:t> (A3+A4)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US" sz="2000" dirty="0"/>
                            <a:t>Only if A3</a:t>
                          </a:r>
                          <a:endParaRPr lang="en-US" sz="2000" dirty="0">
                            <a:solidFill>
                              <a:srgbClr val="0432FF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4407" t="-236364" r="-847" b="-2363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7240565"/>
                      </a:ext>
                    </a:extLst>
                  </a:tr>
                  <a:tr h="823722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Trust region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 err="1">
                              <a:solidFill>
                                <a:srgbClr val="0432FF"/>
                              </a:solidFill>
                            </a:rPr>
                            <a:t>Superlinear</a:t>
                          </a:r>
                          <a:r>
                            <a:rPr lang="en-US" sz="2000" dirty="0">
                              <a:solidFill>
                                <a:srgbClr val="0432FF"/>
                              </a:solidFill>
                            </a:rPr>
                            <a:t> or quadratic </a:t>
                          </a: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(A1)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8921" t="-284615" r="-9875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4407" t="-284615" r="-847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4791145"/>
                      </a:ext>
                    </a:extLst>
                  </a:tr>
                  <a:tr h="823722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L-BFGS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 err="1">
                              <a:solidFill>
                                <a:srgbClr val="0432FF"/>
                              </a:solidFill>
                            </a:rPr>
                            <a:t>Superlinear</a:t>
                          </a:r>
                          <a:r>
                            <a:rPr lang="en-US" sz="2000" dirty="0"/>
                            <a:t> (A3)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Yes w/ line search (A1)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264407" t="-384615" r="-8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507944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704061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8BE00-DCFF-180F-AC0D-2B2C95A82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DAB0B-6A6F-9FAB-DC75-A3E5B46E6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Trust region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097815-2816-4DA4-727D-39CD23BFFC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353801" cy="5032375"/>
              </a:xfrm>
            </p:spPr>
            <p:txBody>
              <a:bodyPr>
                <a:no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>
                    <a:solidFill>
                      <a:prstClr val="black"/>
                    </a:solidFill>
                  </a:rPr>
                  <a:t>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, find a search step within a trust region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: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>
                  <a:solidFill>
                    <a:prstClr val="black"/>
                  </a:solidFill>
                </a:endParaRP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>
                  <a:solidFill>
                    <a:prstClr val="black"/>
                  </a:solidFill>
                </a:endParaRP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>
                  <a:solidFill>
                    <a:prstClr val="black"/>
                  </a:solidFill>
                </a:endParaRP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>
                    <a:solidFill>
                      <a:prstClr val="black"/>
                    </a:solidFill>
                  </a:rPr>
                  <a:t>The solution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satisfies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sz="2400" i="1">
                        <a:latin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lit/>
                      </m:rPr>
                      <a:rPr lang="en-US" sz="2400" i="1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b="1" dirty="0">
                    <a:solidFill>
                      <a:prstClr val="black"/>
                    </a:solidFill>
                  </a:rPr>
                  <a:t>Remark: </a:t>
                </a:r>
                <a:r>
                  <a:rPr lang="en-US" sz="2400" dirty="0">
                    <a:solidFill>
                      <a:prstClr val="black"/>
                    </a:solidFill>
                  </a:rPr>
                  <a:t>Trust region uses Newton’s step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is large (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is approximately convex quadratic in a large neighborhood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) and reduces to GD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is small. 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>
                  <a:solidFill>
                    <a:prstClr val="black"/>
                  </a:solidFill>
                </a:endParaRP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>
                  <a:solidFill>
                    <a:prstClr val="black"/>
                  </a:solidFill>
                </a:endParaRP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>
                    <a:solidFill>
                      <a:prstClr val="black"/>
                    </a:solidFill>
                  </a:rPr>
                  <a:t> </a:t>
                </a:r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097815-2816-4DA4-727D-39CD23BFFC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353801" cy="5032375"/>
              </a:xfrm>
              <a:blipFill>
                <a:blip r:embed="rId2"/>
                <a:stretch>
                  <a:fillRect l="-781" t="-1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81144E5-FB1F-6C3F-D22B-C64F6ED41253}"/>
              </a:ext>
            </a:extLst>
          </p:cNvPr>
          <p:cNvSpPr/>
          <p:nvPr/>
        </p:nvSpPr>
        <p:spPr>
          <a:xfrm>
            <a:off x="838199" y="2374842"/>
            <a:ext cx="10169913" cy="16184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4219D8FA-A87B-148E-E5EF-B15791777C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7203078"/>
                  </p:ext>
                </p:extLst>
              </p:nvPr>
            </p:nvGraphicFramePr>
            <p:xfrm>
              <a:off x="1134319" y="2432721"/>
              <a:ext cx="9025682" cy="14084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3116440096"/>
                        </a:ext>
                      </a:extLst>
                    </a:gridCol>
                    <a:gridCol w="6282482">
                      <a:extLst>
                        <a:ext uri="{9D8B030D-6E8A-4147-A177-3AD203B41FA5}">
                          <a16:colId xmlns:a16="http://schemas.microsoft.com/office/drawing/2014/main" val="3321282949"/>
                        </a:ext>
                      </a:extLst>
                    </a:gridCol>
                  </a:tblGrid>
                  <a:tr h="14738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limLow>
                                  <m:limLow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</m:e>
                                  <m:lim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lim>
                                </m:limLow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∇</m:t>
                                </m:r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sSup>
                                  <m:sSup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8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⊤</m:t>
                                    </m:r>
                                  </m:sup>
                                </m:sSup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⊤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∇</m:t>
                                    </m:r>
                                  </m:e>
                                  <m:sup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30403626"/>
                      </a:ext>
                    </a:extLst>
                  </a:tr>
                  <a:tr h="276739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lit/>
                                  </m:rP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||</m:t>
                                </m:r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m:rPr>
                                    <m:lit/>
                                  </m:rP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||</m:t>
                                </m:r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506658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4219D8FA-A87B-148E-E5EF-B15791777C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7203078"/>
                  </p:ext>
                </p:extLst>
              </p:nvPr>
            </p:nvGraphicFramePr>
            <p:xfrm>
              <a:off x="1134319" y="2432721"/>
              <a:ext cx="9025682" cy="14084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3116440096"/>
                        </a:ext>
                      </a:extLst>
                    </a:gridCol>
                    <a:gridCol w="6282482">
                      <a:extLst>
                        <a:ext uri="{9D8B030D-6E8A-4147-A177-3AD203B41FA5}">
                          <a16:colId xmlns:a16="http://schemas.microsoft.com/office/drawing/2014/main" val="3321282949"/>
                        </a:ext>
                      </a:extLst>
                    </a:gridCol>
                  </a:tblGrid>
                  <a:tr h="8902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r="-229630" b="-690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3548" b="-690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0403626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73171" r="-229630" b="-195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3548" t="-173171" b="-195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06658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965537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EE78E-DBC6-826B-3D3C-E4D6D0821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9C764-8B41-C6D9-8791-9A3DA2C50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BFGS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2FC3CC-2932-3EDF-2410-D484BE3CFB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353801" cy="5032375"/>
              </a:xfrm>
            </p:spPr>
            <p:txBody>
              <a:bodyPr>
                <a:no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>
                    <a:solidFill>
                      <a:prstClr val="black"/>
                    </a:solidFill>
                  </a:rPr>
                  <a:t>Instead of computing Hessian, use a </a:t>
                </a:r>
                <a:r>
                  <a:rPr lang="en-US" sz="2400" dirty="0" err="1">
                    <a:solidFill>
                      <a:prstClr val="black"/>
                    </a:solidFill>
                  </a:rPr>
                  <a:t>p.d.</a:t>
                </a:r>
                <a:r>
                  <a:rPr lang="en-US" sz="2400" dirty="0">
                    <a:solidFill>
                      <a:prstClr val="black"/>
                    </a:solidFill>
                  </a:rPr>
                  <a:t> approximation based on gradient history: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>
                    <a:solidFill>
                      <a:prstClr val="black"/>
                    </a:solidFill>
                  </a:rPr>
                  <a:t>Denote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the approximate </a:t>
                </a:r>
                <a:r>
                  <a:rPr lang="en-US" sz="2400" dirty="0">
                    <a:solidFill>
                      <a:srgbClr val="0432FF"/>
                    </a:solidFill>
                  </a:rPr>
                  <a:t>inverse</a:t>
                </a:r>
                <a:r>
                  <a:rPr lang="en-US" sz="2400" dirty="0">
                    <a:solidFill>
                      <a:prstClr val="black"/>
                    </a:solidFill>
                  </a:rPr>
                  <a:t> of Hessian at iteration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the step.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the change in gradient.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Sup>
                          <m:sSubSupPr>
                            <m:ctrlPr>
                              <a:rPr lang="en-US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>
                    <a:solidFill>
                      <a:prstClr val="black"/>
                    </a:solidFill>
                  </a:rPr>
                  <a:t>The BFGS update is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bSup>
                        </m:e>
                      </m:d>
                      <m:sSub>
                        <m:sSubPr>
                          <m:ctrlP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bSup>
                        </m:e>
                      </m:d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Sup>
                        <m:sSubSupPr>
                          <m:ctrlP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prstClr val="black"/>
                  </a:solidFill>
                </a:endParaRP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>
                    <a:solidFill>
                      <a:prstClr val="black"/>
                    </a:solidFill>
                  </a:rPr>
                  <a:t>The update of Hessian is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>
                  <a:solidFill>
                    <a:prstClr val="black"/>
                  </a:solidFill>
                </a:endParaRP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>
                  <a:solidFill>
                    <a:prstClr val="black"/>
                  </a:solidFill>
                </a:endParaRP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>
                  <a:solidFill>
                    <a:prstClr val="black"/>
                  </a:solidFill>
                </a:endParaRP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>
                  <a:solidFill>
                    <a:prstClr val="black"/>
                  </a:solidFill>
                </a:endParaRP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>
                    <a:solidFill>
                      <a:prstClr val="black"/>
                    </a:solidFill>
                  </a:rPr>
                  <a:t> </a:t>
                </a:r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2FC3CC-2932-3EDF-2410-D484BE3CFB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353801" cy="5032375"/>
              </a:xfrm>
              <a:blipFill>
                <a:blip r:embed="rId2"/>
                <a:stretch>
                  <a:fillRect l="-781" t="-1763" r="-3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25144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DC535-823F-3426-CF04-051365067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01E87-F066-D8AC-C185-B8A8793C4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L-BFGS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D3E075-F2AE-E6EF-71A6-11BDFEDECD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353801" cy="5032375"/>
              </a:xfrm>
            </p:spPr>
            <p:txBody>
              <a:bodyPr>
                <a:no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>
                    <a:solidFill>
                      <a:prstClr val="black"/>
                    </a:solidFill>
                  </a:rPr>
                  <a:t>L-BFGS avoids storage of a dense (inverse) Hessian matrix, critical for large-scale optimization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∼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).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>
                    <a:solidFill>
                      <a:prstClr val="black"/>
                    </a:solidFill>
                  </a:rPr>
                  <a:t>L-BFGS stores the most recent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∈[3,20]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data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. Approximates search direction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prstClr val="black"/>
                    </a:solidFill>
                  </a:rPr>
                  <a:t> by: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>
                    <a:solidFill>
                      <a:prstClr val="black"/>
                    </a:solidFill>
                  </a:rPr>
                  <a:t>1.  ***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>
                  <a:solidFill>
                    <a:prstClr val="black"/>
                  </a:solidFill>
                </a:endParaRP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>
                  <a:solidFill>
                    <a:prstClr val="black"/>
                  </a:solidFill>
                </a:endParaRP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>
                    <a:solidFill>
                      <a:prstClr val="black"/>
                    </a:solidFill>
                  </a:rPr>
                  <a:t> </a:t>
                </a:r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D3E075-F2AE-E6EF-71A6-11BDFEDECD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353801" cy="5032375"/>
              </a:xfrm>
              <a:blipFill>
                <a:blip r:embed="rId2"/>
                <a:stretch>
                  <a:fillRect l="-781" t="-1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8335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14468</TotalTime>
  <Words>1167</Words>
  <Application>Microsoft Macintosh PowerPoint</Application>
  <PresentationFormat>Widescreen</PresentationFormat>
  <Paragraphs>134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Cambria Math</vt:lpstr>
      <vt:lpstr>Office Theme</vt:lpstr>
      <vt:lpstr>PowerPoint Presentation</vt:lpstr>
      <vt:lpstr>GD</vt:lpstr>
      <vt:lpstr>Gradient descent (GD)</vt:lpstr>
      <vt:lpstr>Termination criterion</vt:lpstr>
      <vt:lpstr>Line search</vt:lpstr>
      <vt:lpstr>Amijo line search</vt:lpstr>
      <vt:lpstr>Amijo line search</vt:lpstr>
      <vt:lpstr>GD convergence properties</vt:lpstr>
      <vt:lpstr>GD convergence properties</vt:lpstr>
      <vt:lpstr>GD convergence properties</vt:lpstr>
      <vt:lpstr>GD convergence properties</vt:lpstr>
      <vt:lpstr>GD convergence properties</vt:lpstr>
      <vt:lpstr>GD convergence properties</vt:lpstr>
      <vt:lpstr>GD convergence properties</vt:lpstr>
      <vt:lpstr>GD convergence properties</vt:lpstr>
      <vt:lpstr>Conjugate gradient (CG)</vt:lpstr>
      <vt:lpstr>Newton’s method</vt:lpstr>
      <vt:lpstr>Newton’s method</vt:lpstr>
      <vt:lpstr>Newton’s method</vt:lpstr>
      <vt:lpstr>Summary of gradient-based algorithms</vt:lpstr>
      <vt:lpstr>Trust region</vt:lpstr>
      <vt:lpstr>BFGS</vt:lpstr>
      <vt:lpstr>L-BFGS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 Ren</dc:creator>
  <cp:lastModifiedBy>Yi Ren</cp:lastModifiedBy>
  <cp:revision>31</cp:revision>
  <dcterms:created xsi:type="dcterms:W3CDTF">2025-07-30T19:11:43Z</dcterms:created>
  <dcterms:modified xsi:type="dcterms:W3CDTF">2025-08-21T01:48:48Z</dcterms:modified>
</cp:coreProperties>
</file>