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0" r:id="rId3"/>
    <p:sldId id="258" r:id="rId4"/>
    <p:sldId id="259" r:id="rId5"/>
    <p:sldId id="277" r:id="rId6"/>
    <p:sldId id="261" r:id="rId7"/>
    <p:sldId id="263" r:id="rId8"/>
    <p:sldId id="281" r:id="rId9"/>
    <p:sldId id="264" r:id="rId10"/>
    <p:sldId id="262" r:id="rId11"/>
    <p:sldId id="265" r:id="rId12"/>
    <p:sldId id="266" r:id="rId13"/>
    <p:sldId id="267" r:id="rId14"/>
    <p:sldId id="268" r:id="rId15"/>
    <p:sldId id="269" r:id="rId16"/>
    <p:sldId id="274" r:id="rId17"/>
    <p:sldId id="273" r:id="rId18"/>
    <p:sldId id="271" r:id="rId19"/>
    <p:sldId id="272" r:id="rId20"/>
    <p:sldId id="276" r:id="rId21"/>
    <p:sldId id="275" r:id="rId22"/>
    <p:sldId id="279" r:id="rId23"/>
    <p:sldId id="280" r:id="rId24"/>
    <p:sldId id="282" r:id="rId25"/>
    <p:sldId id="283" r:id="rId26"/>
    <p:sldId id="284" r:id="rId27"/>
    <p:sldId id="285" r:id="rId28"/>
    <p:sldId id="287" r:id="rId30"/>
    <p:sldId id="288" r:id="rId31"/>
    <p:sldId id="290" r:id="rId32"/>
    <p:sldId id="292" r:id="rId33"/>
    <p:sldId id="286" r:id="rId29"/>
    <p:sldId id="29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51"/>
  </p:normalViewPr>
  <p:slideViewPr>
    <p:cSldViewPr snapToGrid="0">
      <p:cViewPr varScale="1">
        <p:scale>
          <a:sx n="110" d="100"/>
          <a:sy n="110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FB53-78E1-DADF-3AD9-F4C903FED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0C7FD-53FE-13C6-E338-6607005E4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0F9C0-7E96-2FC7-D606-6BD7C948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12A2-3EF6-8945-9F29-00A3D7E6650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66DA7-C649-8F89-7253-EF3EBDB2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CFE15-ECCD-D316-1E12-F124496F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630A-F0F9-9C43-9BAA-A4139C09E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2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EE435-FBB9-6DEB-D7BA-A877FA52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4A237-C5CC-4EA8-B471-165F93880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C74AE-8CA8-116D-A9F3-4E9512BC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12A2-3EF6-8945-9F29-00A3D7E6650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AC993-9E83-4CFB-D2FB-FAEF40B3F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CA299-D6E9-1211-7274-6CC3BD12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630A-F0F9-9C43-9BAA-A4139C09E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72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D0C98-F378-18C9-366D-0B063412D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7BB2D-F22A-C789-0519-7A890BA9A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C53D0-2F13-C055-4F52-CB90B47C3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12A2-3EF6-8945-9F29-00A3D7E6650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B0708-D494-243A-DE50-168B6DF0E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72B92-36DE-970E-4A1C-2BB6DF96B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630A-F0F9-9C43-9BAA-A4139C09E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8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F712-8A35-61C1-A2D5-DD7BA5DB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C35F1-D30F-95A8-26AA-766E3747A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55E8F-253E-A9EB-5106-1BFAF0882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695DC-7FF2-960F-DBCD-6C7C336C5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12A2-3EF6-8945-9F29-00A3D7E6650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9C610-9BC1-D010-8F62-252002BA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98993-1C9F-3EE9-250E-E0902E1B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630A-F0F9-9C43-9BAA-A4139C09E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55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A46AA-D17E-42AC-C683-751075E6E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7FC3A-71E1-D7AA-087B-0B1E9C294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765FB-E257-F461-D5AF-F4F8DD82B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A07A6-110D-C95D-345B-A0E9AA38B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E7E2AD-3A2F-5CCF-5287-32D0DD3EC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0A9335-69B7-41D9-3F27-D76B1C0E2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12A2-3EF6-8945-9F29-00A3D7E6650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697E3-FB6E-891E-0F6C-CE927281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C3F2C-9D4C-F464-C917-8021FA15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630A-F0F9-9C43-9BAA-A4139C09E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65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B732F-62C1-E726-2744-8525BC8A3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A42C5-2B07-F00D-1AB6-F56937B4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12A2-3EF6-8945-9F29-00A3D7E6650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DF162-0377-5493-4A5E-9B53B236A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17AE1-8EB5-5082-B689-E68062A4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630A-F0F9-9C43-9BAA-A4139C09E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28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6AA418-7296-D394-E031-9B8E7BEC7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12A2-3EF6-8945-9F29-00A3D7E6650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EF36DB-E22F-927A-1513-C7FF3B7FA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7926C-FBB2-8E4F-7899-6C5D8C754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630A-F0F9-9C43-9BAA-A4139C09E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2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A3527-F420-B2DE-53C0-A8AF034FA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87A0F-ADF2-E294-80D5-4FE1A32E1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3A67E-8AA7-99A9-08AC-C6DE40208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7B36E-9387-352D-B261-B2A30BFF2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12A2-3EF6-8945-9F29-00A3D7E6650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5123F-DD9E-574C-8811-50F102B3C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010ED-574A-9598-3BE7-0400FA04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630A-F0F9-9C43-9BAA-A4139C09E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87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51B43-5B8C-93FA-353E-89C7A004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FD76ED-A443-2C08-C672-3B49548A79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B9965-387E-D123-2E29-C74422CDA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45905-6406-F539-8CF9-9E528483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12A2-3EF6-8945-9F29-00A3D7E6650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76711-BEBF-C5BD-381D-637D47766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7BF3F-D3C5-A2C7-7B96-E14DE86F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630A-F0F9-9C43-9BAA-A4139C09E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3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6945E-9DEF-90CE-1D82-48F356915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F135B-4EA4-7C79-2B4B-CF2E37631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4243F-E31A-91C4-172F-037A284CF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12A2-3EF6-8945-9F29-00A3D7E6650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85810-340E-4C41-40BF-CF97F7C8C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D59A8-CD32-CFAE-A6F0-219B762E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630A-F0F9-9C43-9BAA-A4139C09E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92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D99C2-E46D-34C6-9044-056CAA065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04C3A-CE42-FF96-2055-345609B4C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2F98A-90D6-D324-28E0-9EF7D695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712A2-3EF6-8945-9F29-00A3D7E6650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76C4A-7EC0-0F19-4A4B-DA6423F73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92856-84C7-437D-ED23-D7878EF0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630A-F0F9-9C43-9BAA-A4139C09E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8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806514-69E2-6B6C-55D9-24203997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AABC8-8513-812D-7397-7BF3CEB12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79968-ACCB-B8E7-AFAF-20FABCD83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712A2-3EF6-8945-9F29-00A3D7E66508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1E57A-0711-F8E5-ABDE-E195DABB6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4CF18-1EDF-D942-FDC7-8816BC40F5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8630A-F0F9-9C43-9BAA-A4139C09E4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84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11C497-D4C6-C2EA-44EB-5C355DFA8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8967" y="3602038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MAE598/494 Design Optimization</a:t>
            </a:r>
          </a:p>
          <a:p>
            <a:pPr algn="l"/>
            <a:r>
              <a:rPr lang="en-US" dirty="0"/>
              <a:t>Yi Ren</a:t>
            </a:r>
          </a:p>
          <a:p>
            <a:pPr algn="l"/>
            <a:r>
              <a:rPr lang="en-US" dirty="0"/>
              <a:t>ASU Fall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FF7E57-9E59-8151-EA3B-4EDD6FC84668}"/>
              </a:ext>
            </a:extLst>
          </p:cNvPr>
          <p:cNvSpPr txBox="1">
            <a:spLocks/>
          </p:cNvSpPr>
          <p:nvPr/>
        </p:nvSpPr>
        <p:spPr>
          <a:xfrm>
            <a:off x="846093" y="70524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rgbClr val="0432FF"/>
                </a:solidFill>
              </a:rPr>
              <a:t>Constrained optimization (part 1)</a:t>
            </a:r>
          </a:p>
        </p:txBody>
      </p:sp>
    </p:spTree>
    <p:extLst>
      <p:ext uri="{BB962C8B-B14F-4D97-AF65-F5344CB8AC3E}">
        <p14:creationId xmlns:p14="http://schemas.microsoft.com/office/powerpoint/2010/main" val="2862292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44860-6876-04E9-64F0-968F37EFD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61C69-1433-0CB4-B5A3-694341C8A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CE59B-53B0-BD44-EEFA-CF9B70C32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2522" cy="5032375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Constrained optimization and KKT conditions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A geometric interpretation of KKT conditions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Derivation of KKT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A sensitivity interpretation of Lagrange multipliers</a:t>
            </a:r>
          </a:p>
          <a:p>
            <a:pPr>
              <a:spcAft>
                <a:spcPts val="1200"/>
              </a:spcAft>
            </a:pPr>
            <a:r>
              <a:rPr lang="en-US" sz="240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761226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D0BC-8FFB-0570-26CE-2737F1E8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Constrained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D5906-A14C-68E5-66AC-4F9063B3C2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We now consider the following constrained problem </a:t>
                </a:r>
                <a:r>
                  <a:rPr lang="en-US" sz="2400" b="1" dirty="0"/>
                  <a:t>(P)</a:t>
                </a:r>
                <a:r>
                  <a:rPr lang="en-US" sz="2400" dirty="0"/>
                  <a:t>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Assumptions:</a:t>
                </a: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400" b="0" i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400" b="0" i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400" b="0" i="1" dirty="0">
                  <a:solidFill>
                    <a:schemeClr val="tx1"/>
                  </a:solidFill>
                </a:endParaRPr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(Hessian exists) and bounded,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(gradient exists)</a:t>
                </a:r>
              </a:p>
              <a:p>
                <a:pPr marL="514350" indent="-514350">
                  <a:buAutoNum type="arabicPeriod"/>
                </a:pPr>
                <a:r>
                  <a:rPr lang="en-US" sz="2400" dirty="0">
                    <a:ea typeface="Cambria Math" panose="02040503050406030204" pitchFamily="18" charset="0"/>
                  </a:rPr>
                  <a:t>Support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compact (closed and bounded)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(feasible soln. exists)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4D5906-A14C-68E5-66AC-4F9063B3C2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  <a:blipFill>
                <a:blip r:embed="rId2"/>
                <a:stretch>
                  <a:fillRect l="-941" t="-2267" b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1C85974-92F6-A61D-5E01-41EA5957F86A}"/>
              </a:ext>
            </a:extLst>
          </p:cNvPr>
          <p:cNvSpPr/>
          <p:nvPr/>
        </p:nvSpPr>
        <p:spPr>
          <a:xfrm>
            <a:off x="899530" y="2476056"/>
            <a:ext cx="10169913" cy="20235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34BDAF2-FCF1-EAA6-06AE-7935C34872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0027622"/>
                  </p:ext>
                </p:extLst>
              </p:nvPr>
            </p:nvGraphicFramePr>
            <p:xfrm>
              <a:off x="1920486" y="2520660"/>
              <a:ext cx="7466581" cy="18844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7397">
                      <a:extLst>
                        <a:ext uri="{9D8B030D-6E8A-4147-A177-3AD203B41FA5}">
                          <a16:colId xmlns:a16="http://schemas.microsoft.com/office/drawing/2014/main" val="66751682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91031568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6162830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2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(P)</a:t>
                          </a: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𝒳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3123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≤0</m:t>
                                </m:r>
                              </m:oMath>
                            </m:oMathPara>
                          </a14:m>
                          <a:endParaRPr lang="en-US" sz="3200" b="0" dirty="0"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9644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21278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34BDAF2-FCF1-EAA6-06AE-7935C34872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0027622"/>
                  </p:ext>
                </p:extLst>
              </p:nvPr>
            </p:nvGraphicFramePr>
            <p:xfrm>
              <a:off x="1920486" y="2520660"/>
              <a:ext cx="7466581" cy="18844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7397">
                      <a:extLst>
                        <a:ext uri="{9D8B030D-6E8A-4147-A177-3AD203B41FA5}">
                          <a16:colId xmlns:a16="http://schemas.microsoft.com/office/drawing/2014/main" val="66751682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91031568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616283054"/>
                        </a:ext>
                      </a:extLst>
                    </a:gridCol>
                  </a:tblGrid>
                  <a:tr h="72625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20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(P)</a:t>
                          </a: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695" t="-10924" r="-100000" b="-1605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7695" t="-10924" b="-1605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31233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l"/>
                          <a:endParaRPr lang="en-US" sz="320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695" t="-137500" r="-100000" b="-989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7695" t="-137500" b="-989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964472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l"/>
                          <a:endParaRPr lang="en-US" sz="320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320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7695" t="-24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21278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014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766B-4BA4-0B7B-57C7-734F6284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CB2B-6DA4-A211-D7BB-1008343F2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solidFill>
                  <a:srgbClr val="0432FF"/>
                </a:solidFill>
              </a:rPr>
              <a:t>Karush</a:t>
            </a:r>
            <a:r>
              <a:rPr lang="en-US" sz="4000" dirty="0">
                <a:solidFill>
                  <a:srgbClr val="0432FF"/>
                </a:solidFill>
              </a:rPr>
              <a:t>-Kuhn-Tucker (KKT) point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03E4F-B83E-DBEB-20D9-5E8E2DE418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KKT point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satisfies the following: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1 (stationarity):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2 (primal feasibility):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3 (dual feasibility):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4 (complementary slackness):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(or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).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03E4F-B83E-DBEB-20D9-5E8E2DE41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92522" cy="5032375"/>
              </a:xfrm>
              <a:blipFill>
                <a:blip r:embed="rId2"/>
                <a:stretch>
                  <a:fillRect l="-941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004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3911A-CF21-65CC-25D4-8F59D29C5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1CABC-4479-48B1-6333-12AD0AE88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>
                <a:solidFill>
                  <a:srgbClr val="0432FF"/>
                </a:solidFill>
              </a:rPr>
              <a:t>Karush</a:t>
            </a:r>
            <a:r>
              <a:rPr lang="en-US" sz="4000" dirty="0">
                <a:solidFill>
                  <a:srgbClr val="0432FF"/>
                </a:solidFill>
              </a:rPr>
              <a:t>-Kuhn-Tucker (KKT) point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53B3F-486A-02C9-24D9-4414D5DFA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2522" cy="503237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600206-960B-BDAE-5B96-3C99785F6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2278623" cy="3190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EF50AD8-5085-F3B8-435E-73372EF12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1690688"/>
            <a:ext cx="2278622" cy="3192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3921874-A82A-5283-C38D-D39BBC316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199" y="1690688"/>
            <a:ext cx="2278622" cy="320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12B75E-D477-B0AA-F0F7-7DFDCA561A86}"/>
              </a:ext>
            </a:extLst>
          </p:cNvPr>
          <p:cNvSpPr txBox="1"/>
          <p:nvPr/>
        </p:nvSpPr>
        <p:spPr>
          <a:xfrm>
            <a:off x="838200" y="5015696"/>
            <a:ext cx="22786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William </a:t>
            </a:r>
            <a:r>
              <a:rPr lang="en-US" b="1" dirty="0" err="1"/>
              <a:t>Karush</a:t>
            </a:r>
            <a:r>
              <a:rPr lang="en-US" b="1" dirty="0"/>
              <a:t>: First </a:t>
            </a:r>
            <a:r>
              <a:rPr lang="en-US" dirty="0"/>
              <a:t>developed KKT conditions in 1939 in his Master’s thesis at U. Chicago.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CD31B-F60B-647F-91C7-499E99BAFC06}"/>
              </a:ext>
            </a:extLst>
          </p:cNvPr>
          <p:cNvSpPr txBox="1"/>
          <p:nvPr/>
        </p:nvSpPr>
        <p:spPr>
          <a:xfrm>
            <a:off x="3695699" y="5015696"/>
            <a:ext cx="22786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Harold Kuhn: </a:t>
            </a:r>
            <a:r>
              <a:rPr lang="en-US" dirty="0"/>
              <a:t>Re-discovered KKT conditions w/ Tucker in 1951. Colleague and main advocate of John Nash.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F7DEF-C8DF-A9FE-C185-E0CC8CF94140}"/>
              </a:ext>
            </a:extLst>
          </p:cNvPr>
          <p:cNvSpPr txBox="1"/>
          <p:nvPr/>
        </p:nvSpPr>
        <p:spPr>
          <a:xfrm>
            <a:off x="6523898" y="5015696"/>
            <a:ext cx="24001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Albert Tucker: </a:t>
            </a:r>
            <a:r>
              <a:rPr lang="en-US" dirty="0"/>
              <a:t>PhD adviser of John Nash on non-cooperative games, coined “prisoner’s dilemma”.</a:t>
            </a:r>
          </a:p>
        </p:txBody>
      </p:sp>
    </p:spTree>
    <p:extLst>
      <p:ext uri="{BB962C8B-B14F-4D97-AF65-F5344CB8AC3E}">
        <p14:creationId xmlns:p14="http://schemas.microsoft.com/office/powerpoint/2010/main" val="3631798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F8FA1-1DDE-A55C-635F-DB0855A6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52996-FFAA-77E4-3CBC-08094A3D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Geometric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92125E-EB72-EF43-7769-FE2F49D1A6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represents “force balance” between the “gravity”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and the reaction forces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b="0" dirty="0"/>
                  <a:t>The Lagrange multipliers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represent magnitudes of reaction forces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Complementary slackness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) AND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≥0 </m:t>
                    </m:r>
                  </m:oMath>
                </a14:m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):  If the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is pushed to the “wall”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then there is a reaction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never negative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: The reaction force does not pull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“into” the wall.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92125E-EB72-EF43-7769-FE2F49D1A6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821" t="-1511" r="-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092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2B470-64BC-A979-9A11-C7F259C8D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31B4-F8AD-DA42-661F-8A3287394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Optimality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3FE55-4DB1-2CC1-9CFD-61AA05292D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b="1" dirty="0"/>
                  <a:t>(First-order necessary conditions) </a:t>
                </a:r>
                <a:r>
                  <a:rPr lang="en-US" sz="2400" dirty="0"/>
                  <a:t>Under </a:t>
                </a:r>
                <a:r>
                  <a:rPr lang="en-US" sz="2400" dirty="0">
                    <a:solidFill>
                      <a:srgbClr val="0432FF"/>
                    </a:solidFill>
                  </a:rPr>
                  <a:t>constraint qualification</a:t>
                </a:r>
                <a:r>
                  <a:rPr lang="en-US" sz="2400" dirty="0"/>
                  <a:t>,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is a local solution to </a:t>
                </a:r>
                <a:r>
                  <a:rPr lang="en-US" sz="2400" b="1" dirty="0"/>
                  <a:t>(P)</a:t>
                </a:r>
                <a:r>
                  <a:rPr lang="en-US" sz="2400" dirty="0"/>
                  <a:t xml:space="preserve">, then there exist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 xml:space="preserve"> such that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KKT point.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b="1" dirty="0"/>
                  <a:t>(</a:t>
                </a:r>
                <a:r>
                  <a:rPr lang="en-US" sz="2400" b="1" dirty="0" err="1"/>
                  <a:t>Lagrangian</a:t>
                </a:r>
                <a:r>
                  <a:rPr lang="en-US" sz="2400" b="1" dirty="0"/>
                  <a:t>)</a:t>
                </a:r>
                <a:r>
                  <a:rPr lang="en-US" sz="2400" dirty="0"/>
                  <a:t> We call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the </a:t>
                </a:r>
                <a:r>
                  <a:rPr lang="en-US" sz="2400" dirty="0" err="1">
                    <a:solidFill>
                      <a:srgbClr val="0432FF"/>
                    </a:solidFill>
                  </a:rPr>
                  <a:t>Lagrangian</a:t>
                </a:r>
                <a:r>
                  <a:rPr lang="en-US" sz="2400" dirty="0"/>
                  <a:t>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b="1" dirty="0"/>
                  <a:t>(Active constraint) </a:t>
                </a:r>
                <a:r>
                  <a:rPr lang="en-US" sz="2400" b="0" dirty="0"/>
                  <a:t>At a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en-US" sz="2000" dirty="0"/>
                  <a:t>Strongly active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(touch with contact force);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en-US" sz="2000" dirty="0"/>
                  <a:t>Weakly active (degenerate)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(touch but no force);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en-US" sz="2000" dirty="0"/>
                  <a:t>Inactive 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000" dirty="0"/>
                  <a:t> (no touch).</a:t>
                </a: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/>
                  <a:t>: set of strongly active inequality constraints;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weakly active;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inactive. </a:t>
                </a: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.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=[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3FE55-4DB1-2CC1-9CFD-61AA05292D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821" t="-1763" r="-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7395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42F87-7E52-33A8-B566-9BFAA1AAA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F28C-772C-4E1A-C4FA-2D71B8161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Optimality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336DD1-0C40-91B7-1090-E409BE0BFB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b="1" dirty="0"/>
                  <a:t xml:space="preserve">(Critical direction) </a:t>
                </a:r>
                <a:r>
                  <a:rPr lang="en-US" sz="2400" dirty="0"/>
                  <a:t>A perturbation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2400" dirty="0"/>
                  <a:t xml:space="preserve"> is a critical direction </a:t>
                </a:r>
                <a:r>
                  <a:rPr lang="en-US" sz="2400" dirty="0" err="1"/>
                  <a:t>iff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dirty="0"/>
                  <a:t>Why not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b="1" dirty="0"/>
                  <a:t>(Second-order sufficient conditions)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KKT point,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 xml:space="preserve"> for any critical direction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 xml:space="preserve"> is a strict local solution to </a:t>
                </a:r>
                <a:r>
                  <a:rPr lang="en-US" sz="2400" b="1" dirty="0"/>
                  <a:t>(P)</a:t>
                </a:r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336DD1-0C40-91B7-1090-E409BE0BFB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821" t="-1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3663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ED112-5DD8-1893-86A7-24F278D4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AA0F-7963-45E8-06E2-60E131633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Constraint qualification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4A3C17-F186-06D5-F15B-66E77AAC29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400" b="1" dirty="0"/>
                  <a:t>(Linear independence constraint qualification, LICQ) </a:t>
                </a:r>
                <a:r>
                  <a:rPr lang="en-US" sz="2400" dirty="0"/>
                  <a:t>The gradients of active inequality and equality constraints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}∪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]}</m:t>
                    </m:r>
                  </m:oMath>
                </a14:m>
                <a:r>
                  <a:rPr lang="en-US" sz="2400" dirty="0"/>
                  <a:t> are linearly independent.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b="1" dirty="0"/>
                  <a:t>(Slater’s condition)</a:t>
                </a:r>
                <a:r>
                  <a:rPr lang="en-US" sz="2400" dirty="0"/>
                  <a:t> Exists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)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r>
                  <a:rPr lang="en-US" sz="2400" b="1" dirty="0"/>
                  <a:t>(First-order sufficient optimality condition)</a:t>
                </a:r>
                <a:r>
                  <a:rPr lang="en-US" sz="2400" dirty="0"/>
                  <a:t> If </a:t>
                </a:r>
                <a:r>
                  <a:rPr lang="en-US" sz="2400" b="1" dirty="0"/>
                  <a:t>(P)</a:t>
                </a:r>
                <a:r>
                  <a:rPr lang="en-US" sz="2400" dirty="0"/>
                  <a:t> is </a:t>
                </a:r>
                <a:r>
                  <a:rPr lang="en-US" sz="2400" dirty="0">
                    <a:solidFill>
                      <a:srgbClr val="0432FF"/>
                    </a:solidFill>
                  </a:rPr>
                  <a:t>convex, </a:t>
                </a:r>
                <a:r>
                  <a:rPr lang="en-US" sz="2400" dirty="0"/>
                  <a:t>then a KKT point is a global solution to </a:t>
                </a:r>
                <a:r>
                  <a:rPr lang="en-US" sz="2400" b="1" dirty="0"/>
                  <a:t>(P)</a:t>
                </a:r>
                <a:r>
                  <a:rPr lang="en-US" sz="2400" dirty="0"/>
                  <a:t>. If </a:t>
                </a:r>
                <a:r>
                  <a:rPr lang="en-US" sz="2400" b="1" dirty="0"/>
                  <a:t>(P)</a:t>
                </a:r>
                <a:r>
                  <a:rPr lang="en-US" sz="2400" dirty="0"/>
                  <a:t xml:space="preserve"> is strictly convex, then the solution is unique.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400" b="1" dirty="0"/>
                  <a:t>(First-order necessary optimality condition for convex P) </a:t>
                </a:r>
                <a:r>
                  <a:rPr lang="en-US" sz="2400" dirty="0"/>
                  <a:t>If </a:t>
                </a:r>
                <a:r>
                  <a:rPr lang="en-US" sz="2400" b="1" dirty="0"/>
                  <a:t>(P)</a:t>
                </a:r>
                <a:r>
                  <a:rPr lang="en-US" sz="2400" dirty="0"/>
                  <a:t> is </a:t>
                </a:r>
                <a:r>
                  <a:rPr lang="en-US" sz="2400" dirty="0">
                    <a:solidFill>
                      <a:srgbClr val="0432FF"/>
                    </a:solidFill>
                  </a:rPr>
                  <a:t>convex,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a global solution to </a:t>
                </a:r>
                <a:r>
                  <a:rPr lang="en-US" sz="2400" b="1" dirty="0"/>
                  <a:t>(P)</a:t>
                </a:r>
                <a:r>
                  <a:rPr lang="en-US" sz="2400" dirty="0"/>
                  <a:t xml:space="preserve">, and Slater’s condition holds, then there exist multipliers such that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KKT point.</a:t>
                </a:r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spcAft>
                    <a:spcPts val="1200"/>
                  </a:spcAft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4A3C17-F186-06D5-F15B-66E77AAC29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821" t="-1763" r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716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21D9D-2201-1869-E5DA-9729DEF4C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F1F3-5567-DEF0-25DF-8360CB39D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703ADE-FB1D-385C-DAC3-1A49BD9CBB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(Solution is a KKT point)</a:t>
                </a:r>
                <a:r>
                  <a:rPr lang="en-US" sz="2400" dirty="0"/>
                  <a:t> Consider the problem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∈[0,1]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Visualize to determine the solution. Verify that the solution is a KKT point.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703ADE-FB1D-385C-DAC3-1A49BD9CB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938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82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C137D-3930-140E-5981-DA981431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7E48-B0CF-4E9A-EFEB-ED96285D3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48E3D-35B8-9E40-C151-4F78200F05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(Solution exists but KKT point does not)</a:t>
                </a:r>
                <a:r>
                  <a:rPr lang="en-US" sz="2400" dirty="0"/>
                  <a:t> Consider the problem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Subject to: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Visualize to determine the solution. Verify that the solution is NOT a KKT point.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48E3D-35B8-9E40-C151-4F78200F0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938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8376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CE069-0317-854E-D398-5139CA1C5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F796-BF7A-DBE1-587A-A065F4073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Derivation – equality constraints only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B6DA94-97B4-7BAF-C091-E8728D1625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We start by considering </a:t>
                </a:r>
                <a:r>
                  <a:rPr lang="en-US" sz="2400" b="1" dirty="0"/>
                  <a:t>(P0)</a:t>
                </a:r>
                <a:r>
                  <a:rPr lang="en-US" sz="2400" dirty="0"/>
                  <a:t> with only equality constraints.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defines a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-dim feasible space: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sz="2400" dirty="0"/>
                  <a:t>, then perturbation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is feasible if: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 are decision (free) variables,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 are state variables.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B6DA94-97B4-7BAF-C091-E8728D1625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938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49EA260-4F22-ED14-147C-1B2698A8A40C}"/>
              </a:ext>
            </a:extLst>
          </p:cNvPr>
          <p:cNvSpPr/>
          <p:nvPr/>
        </p:nvSpPr>
        <p:spPr>
          <a:xfrm>
            <a:off x="899530" y="2476056"/>
            <a:ext cx="10169913" cy="14361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E725BE5-2EC2-1BB1-409E-D7808237C3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2619422"/>
                  </p:ext>
                </p:extLst>
              </p:nvPr>
            </p:nvGraphicFramePr>
            <p:xfrm>
              <a:off x="1920487" y="2520660"/>
              <a:ext cx="7439014" cy="13053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7105">
                      <a:extLst>
                        <a:ext uri="{9D8B030D-6E8A-4147-A177-3AD203B41FA5}">
                          <a16:colId xmlns:a16="http://schemas.microsoft.com/office/drawing/2014/main" val="2171501123"/>
                        </a:ext>
                      </a:extLst>
                    </a:gridCol>
                    <a:gridCol w="3762576">
                      <a:extLst>
                        <a:ext uri="{9D8B030D-6E8A-4147-A177-3AD203B41FA5}">
                          <a16:colId xmlns:a16="http://schemas.microsoft.com/office/drawing/2014/main" val="1910315689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6162830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2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(P0)</a:t>
                          </a: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𝒳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3123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96447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E725BE5-2EC2-1BB1-409E-D7808237C3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2619422"/>
                  </p:ext>
                </p:extLst>
              </p:nvPr>
            </p:nvGraphicFramePr>
            <p:xfrm>
              <a:off x="1920487" y="2520660"/>
              <a:ext cx="7439014" cy="13053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7105">
                      <a:extLst>
                        <a:ext uri="{9D8B030D-6E8A-4147-A177-3AD203B41FA5}">
                          <a16:colId xmlns:a16="http://schemas.microsoft.com/office/drawing/2014/main" val="2171501123"/>
                        </a:ext>
                      </a:extLst>
                    </a:gridCol>
                    <a:gridCol w="3762576">
                      <a:extLst>
                        <a:ext uri="{9D8B030D-6E8A-4147-A177-3AD203B41FA5}">
                          <a16:colId xmlns:a16="http://schemas.microsoft.com/office/drawing/2014/main" val="1910315689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616283054"/>
                        </a:ext>
                      </a:extLst>
                    </a:gridCol>
                  </a:tblGrid>
                  <a:tr h="72625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2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(P0)</a:t>
                          </a: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589" t="-10345" r="-72054" b="-9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5117" t="-10345" r="-469" b="-9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31233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5589" t="-139130" r="-72054" b="-2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5117" t="-139130" r="-469" b="-239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96447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26988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24CFB-AED7-018D-4552-9FECF4D9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26153-C162-3E7E-2377-96B9A2F8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Derivation – equality constraints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3B559-CAA3-3F1B-8EC3-DF409006D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9082" cy="503237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B0C7922-E55C-F719-758C-1A0AAA062C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4"/>
                <a:ext cx="10829082" cy="503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Now we can consider </a:t>
                </a:r>
                <a:r>
                  <a:rPr lang="en-US" sz="2400" b="1" dirty="0"/>
                  <a:t>(P0) </a:t>
                </a:r>
                <a:r>
                  <a:rPr lang="en-US" sz="2400" dirty="0"/>
                  <a:t>as an unconstrained problem about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 since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can be determined through: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Font typeface="Arial" panose="020B0604020202020204" pitchFamily="34" charset="0"/>
                  <a:buNone/>
                </a:pPr>
                <a:r>
                  <a:rPr lang="en-US" sz="2400" dirty="0"/>
                  <a:t>The </a:t>
                </a:r>
                <a:r>
                  <a:rPr lang="en-US" sz="2400" dirty="0">
                    <a:solidFill>
                      <a:srgbClr val="0432FF"/>
                    </a:solidFill>
                  </a:rPr>
                  <a:t>total derivative </a:t>
                </a:r>
                <a:r>
                  <a:rPr lang="en-US" sz="2400" dirty="0"/>
                  <a:t>with respect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From the first-order optimality condition of unconstrained problems,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local solution,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While deriving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possible, the second-order condition will be easier to understand once we introduce </a:t>
                </a:r>
                <a:r>
                  <a:rPr lang="en-US" sz="2400" dirty="0" err="1"/>
                  <a:t>Lagrangian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B0C7922-E55C-F719-758C-1A0AAA062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4"/>
                <a:ext cx="10829082" cy="5032375"/>
              </a:xfrm>
              <a:prstGeom prst="rect">
                <a:avLst/>
              </a:prstGeom>
              <a:blipFill>
                <a:blip r:embed="rId2"/>
                <a:stretch>
                  <a:fillRect l="-938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531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B9E2-11B1-5FEB-AFAC-1C615D9F7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F6CA3-D50B-360B-9CEC-8A1AE041E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80F3AF-DFF6-09F4-87C5-6850373D78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Consider the problem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Solve by introducing decision and state variables and deriving the total derivative.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80F3AF-DFF6-09F4-87C5-6850373D78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938" t="-1763" r="-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5358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1BF4D-A56C-190B-B068-05017944C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791D1-1A7E-7EAF-E125-35151572E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Derivation – equality constraints 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3E8C-BA9B-8BBF-996C-2035D91CC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9082" cy="503237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1A5CD4E-28D2-7FC2-7379-8EFD9B83AD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829082" cy="503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0" dirty="0"/>
                  <a:t>From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, then we have: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Notice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combining the above two to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Let the </a:t>
                </a:r>
                <a:r>
                  <a:rPr lang="en-US" sz="2400" dirty="0" err="1"/>
                  <a:t>Lagrangian</a:t>
                </a:r>
                <a:r>
                  <a:rPr lang="en-US" sz="2400" dirty="0"/>
                  <a:t>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, the first-order optimality conditions become: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=0, 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 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1A5CD4E-28D2-7FC2-7379-8EFD9B83A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829082" cy="5032375"/>
              </a:xfrm>
              <a:prstGeom prst="rect">
                <a:avLst/>
              </a:prstGeom>
              <a:blipFill>
                <a:blip r:embed="rId2"/>
                <a:stretch>
                  <a:fillRect l="-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10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E6E66-573A-2C08-0887-691CB1100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9BFDE-CDBD-F48E-EAB2-0E024D5E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Derivation – second-order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D3829-0A7A-058E-FF5D-63CDB1B31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9082" cy="503237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4727AA7-A405-EAF6-216B-5B90697C09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829082" cy="503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0" dirty="0"/>
                  <a:t>We can show that the curvature in the feasible space </a:t>
                </a:r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𝐿𝑤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For feasible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lnSpc>
                    <a:spcPct val="150000"/>
                  </a:lnSpc>
                  <a:spcAft>
                    <a:spcPts val="1200"/>
                  </a:spcAft>
                  <a:buNone/>
                </a:pPr>
                <a:r>
                  <a:rPr lang="en-US" sz="2400" dirty="0"/>
                  <a:t>Since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num>
                              <m:den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sz="2400" dirty="0"/>
                  <a:t>  involves the matrix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 would involve a 3D tensor, therefore it is easier to compute the curvature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𝐿𝑤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lnSpc>
                    <a:spcPct val="150000"/>
                  </a:lnSpc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04727AA7-A405-EAF6-216B-5B90697C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829082" cy="5032375"/>
              </a:xfrm>
              <a:prstGeom prst="rect">
                <a:avLst/>
              </a:prstGeom>
              <a:blipFill>
                <a:blip r:embed="rId2"/>
                <a:stretch>
                  <a:fillRect l="-938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184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B2FFA-6900-CCDC-5BC3-749EAEC94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C3C7-BB9D-A53C-5F4E-50A103843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227847-36A7-35CB-08CE-C19587BE60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Consider the problem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Solve by introducing </a:t>
                </a:r>
                <a:r>
                  <a:rPr lang="en-US" sz="2400" dirty="0" err="1"/>
                  <a:t>Lagrangian</a:t>
                </a:r>
                <a:r>
                  <a:rPr lang="en-US" sz="2400" dirty="0"/>
                  <a:t> and verify solution using second-order conditions.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227847-36A7-35CB-08CE-C19587BE6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938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244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72A63-CA45-9C2F-A311-80F10BE28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D281-F95B-F554-01DB-A616F262C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Derivation – incorporate inequality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BC6E8-17B3-D910-BD10-6F6A5997E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9082" cy="503237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059955C-E8A4-DD90-319F-352ABFF79C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0829082" cy="503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We can treat constraints in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2400" dirty="0"/>
                  <a:t> as equality ones to have the total derivative: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We can further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</m:acc>
                  </m:oMath>
                </a14:m>
                <a:r>
                  <a:rPr lang="en-US" sz="2400" dirty="0"/>
                  <a:t> to have: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Notice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(complementary slackness), along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400" dirty="0"/>
                  <a:t> (primal feasibility).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059955C-E8A4-DD90-319F-352ABFF79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0829082" cy="5032375"/>
              </a:xfrm>
              <a:prstGeom prst="rect">
                <a:avLst/>
              </a:prstGeom>
              <a:blipFill>
                <a:blip r:embed="rId2"/>
                <a:stretch>
                  <a:fillRect l="-938" t="-17632" r="-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4421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30BD4-2082-B318-2D78-1CFD8708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3B6C-0F9A-F4A3-C96B-037D8F599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Derivation – incorporate inequality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793B-636B-E260-A755-8CA7FBD00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9082" cy="503237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  <a:p>
            <a:pPr marL="0" indent="0">
              <a:spcAft>
                <a:spcPts val="1200"/>
              </a:spcAft>
              <a:buNone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AED97CC-1ABF-C000-7DB8-4869C46D0F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11201400" cy="503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0" dirty="0"/>
                  <a:t>To see why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/>
                  <a:t> (dual feasibility), consider a feasible perturbation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2400" dirty="0"/>
                  <a:t> from a local minimum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Here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/>
                  <a:t> (why),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(why), therefore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</m:oMath>
                </a14:m>
                <a:r>
                  <a:rPr lang="en-US" sz="2400" dirty="0"/>
                  <a:t xml:space="preserve"> denote only the active inequality constraints. If there exists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, due to LICQ, we can find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̃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is one-hot 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400" dirty="0"/>
                  <a:t> (why). Thus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̃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acc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Contradiction. 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5AED97CC-1ABF-C000-7DB8-4869C46D0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11201400" cy="5032375"/>
              </a:xfrm>
              <a:prstGeom prst="rect">
                <a:avLst/>
              </a:prstGeom>
              <a:blipFill>
                <a:blip r:embed="rId2"/>
                <a:stretch>
                  <a:fillRect l="-906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7782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E2860-37A5-BDEB-B495-1F20702D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1E82-64B9-3D62-5612-C4C8954A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9900B2-E990-89AF-2EB8-0852BE7500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Consider the problem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∈[0,1]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Solve using KKT conditions.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9900B2-E990-89AF-2EB8-0852BE7500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938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498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869CD-94D1-B8B7-7270-AC984A65A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DF62-DCE4-7CA6-2B2A-1025BB586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0C166-2FF1-45E6-A1D6-A89343877D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(Principal component analysis) </a:t>
                </a:r>
                <a:r>
                  <a:rPr lang="en-US" sz="2400" dirty="0"/>
                  <a:t>Consider the problem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symmetric.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𝐴𝑥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Subject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Solve by KKT conditions and verify using second-order conditions.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0C166-2FF1-45E6-A1D6-A89343877D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938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822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145B9-013B-6358-93C3-8B585DB5C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CBA44-8AA3-0DAE-24A9-BDBDC011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07AC7-61F7-ED1C-F749-F0E21C9601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(Linearly constrained problem) </a:t>
                </a:r>
                <a:r>
                  <a:rPr lang="en-US" sz="2400" dirty="0"/>
                  <a:t>Consider the problem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Subject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has full row rank.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r>
                  <a:rPr lang="en-US" sz="2400" dirty="0"/>
                  <a:t>Derive the total derivative.</a:t>
                </a:r>
              </a:p>
              <a:p>
                <a:pPr marL="457200" indent="-457200">
                  <a:spcAft>
                    <a:spcPts val="1200"/>
                  </a:spcAft>
                  <a:buFont typeface="Arial" panose="020B0604020202020204" pitchFamily="34" charset="0"/>
                  <a:buAutoNum type="arabicPeriod"/>
                </a:pPr>
                <a:r>
                  <a:rPr lang="en-US" sz="2400" dirty="0"/>
                  <a:t>Derive the KKT conditions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𝑄𝑥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spcAft>
                    <a:spcPts val="1200"/>
                  </a:spcAft>
                  <a:buFont typeface="Arial" panose="020B0604020202020204" pitchFamily="34" charset="0"/>
                  <a:buAutoNum type="arabicPeriod"/>
                </a:pPr>
                <a:r>
                  <a:rPr lang="en-US" sz="2400" dirty="0"/>
                  <a:t>Derive the analytical solution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≻0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07AC7-61F7-ED1C-F749-F0E21C9601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938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6938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73C1-F72C-29C2-337E-E243CE3A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6980-1819-CF88-F6C9-42A469F7E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362D4-2E22-08EC-6240-5E19277E49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134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(Discrete-time </a:t>
                </a:r>
                <a:r>
                  <a:rPr lang="en-US" sz="2400" b="1" dirty="0" err="1"/>
                  <a:t>Pontryagin’s</a:t>
                </a:r>
                <a:r>
                  <a:rPr lang="en-US" sz="2400" b="1" dirty="0"/>
                  <a:t> Maximum Principle)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Consider the problem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𝑐𝑜𝑛𝑠𝑡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Derive the KKT conditions.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3362D4-2E22-08EC-6240-5E19277E4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134600" cy="5032375"/>
              </a:xfrm>
              <a:blipFill>
                <a:blip r:embed="rId2"/>
                <a:stretch>
                  <a:fillRect l="-1001" t="-2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Pontryagin, un genio matemático a pesar de su ceguera |">
            <a:extLst>
              <a:ext uri="{FF2B5EF4-FFF2-40B4-BE49-F238E27FC236}">
                <a16:creationId xmlns:a16="http://schemas.microsoft.com/office/drawing/2014/main" id="{4A9D5B11-C1C6-DB78-8968-845B6F02B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185" y="1825625"/>
            <a:ext cx="3403600" cy="414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9D9BB9-33AA-C6F8-871F-0412AEBA49EE}"/>
              </a:ext>
            </a:extLst>
          </p:cNvPr>
          <p:cNvSpPr txBox="1"/>
          <p:nvPr/>
        </p:nvSpPr>
        <p:spPr>
          <a:xfrm>
            <a:off x="8313059" y="5965825"/>
            <a:ext cx="3977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Lev </a:t>
            </a:r>
            <a:r>
              <a:rPr lang="en-US" b="1" dirty="0" err="1"/>
              <a:t>Pontryagin</a:t>
            </a:r>
            <a:r>
              <a:rPr lang="en-US" b="1" dirty="0"/>
              <a:t>: </a:t>
            </a:r>
            <a:r>
              <a:rPr lang="en-US" dirty="0"/>
              <a:t>USSR Mathematician. Completely blind since 14. Optimal control theory (1956).</a:t>
            </a:r>
          </a:p>
        </p:txBody>
      </p:sp>
    </p:spTree>
    <p:extLst>
      <p:ext uri="{BB962C8B-B14F-4D97-AF65-F5344CB8AC3E}">
        <p14:creationId xmlns:p14="http://schemas.microsoft.com/office/powerpoint/2010/main" val="1540744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9DE95-B7C3-8A58-1A19-36E7C4DE4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648C-D297-427F-0142-C978FE683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AFDCA5-D234-8EE0-E25E-61B8223218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423031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(Linear PDE constrained optimization) </a:t>
                </a:r>
                <a:r>
                  <a:rPr lang="en-US" sz="2400" dirty="0"/>
                  <a:t>Consider the problem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𝐾(𝑢)𝑥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Subject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𝐾(𝑢)𝑥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are design variables (e.g., structure topology),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are system states (e.g., structure displacements),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a forcing term, 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𝐾(𝑢)</m:t>
                    </m:r>
                  </m:oMath>
                </a14:m>
                <a:r>
                  <a:rPr lang="en-US" sz="2400" dirty="0"/>
                  <a:t> the system stiffness.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Derive the reduced gradient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𝑑𝐹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den>
                    </m:f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AFDCA5-D234-8EE0-E25E-61B822321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423031" cy="5032375"/>
              </a:xfrm>
              <a:blipFill>
                <a:blip r:embed="rId2"/>
                <a:stretch>
                  <a:fillRect l="-1205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99014B9D-7D3E-027A-90E8-FE572D726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574" y="424499"/>
            <a:ext cx="18796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21BCC9-4B6F-F20C-A7B3-48A667A75E19}"/>
              </a:ext>
            </a:extLst>
          </p:cNvPr>
          <p:cNvSpPr txBox="1"/>
          <p:nvPr/>
        </p:nvSpPr>
        <p:spPr>
          <a:xfrm>
            <a:off x="9609448" y="2405699"/>
            <a:ext cx="2380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Noboru Kikuchi</a:t>
            </a:r>
            <a:r>
              <a:rPr lang="en-US" dirty="0"/>
              <a:t>: </a:t>
            </a:r>
          </a:p>
          <a:p>
            <a:r>
              <a:rPr lang="en-US" dirty="0"/>
              <a:t>President, Toyota R&amp;D</a:t>
            </a:r>
          </a:p>
        </p:txBody>
      </p:sp>
      <p:pic>
        <p:nvPicPr>
          <p:cNvPr id="3076" name="Picture 4" descr="Martin Philip Bendsøe - Welcome to DTU Research Database">
            <a:extLst>
              <a:ext uri="{FF2B5EF4-FFF2-40B4-BE49-F238E27FC236}">
                <a16:creationId xmlns:a16="http://schemas.microsoft.com/office/drawing/2014/main" id="{E6CA8ADD-B407-7132-0818-B89B43C254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82"/>
          <a:stretch/>
        </p:blipFill>
        <p:spPr bwMode="auto">
          <a:xfrm>
            <a:off x="9692574" y="3272795"/>
            <a:ext cx="1879600" cy="1912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FE7DA4-2455-7BDA-276E-B2BBD41A4244}"/>
              </a:ext>
            </a:extLst>
          </p:cNvPr>
          <p:cNvSpPr txBox="1"/>
          <p:nvPr/>
        </p:nvSpPr>
        <p:spPr>
          <a:xfrm>
            <a:off x="9609447" y="5195526"/>
            <a:ext cx="2219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Martin </a:t>
            </a:r>
            <a:r>
              <a:rPr lang="en-US" b="1" dirty="0" err="1"/>
              <a:t>Bendsoe</a:t>
            </a:r>
            <a:r>
              <a:rPr lang="en-US" dirty="0"/>
              <a:t>: </a:t>
            </a:r>
          </a:p>
          <a:p>
            <a:r>
              <a:rPr lang="en-US" dirty="0"/>
              <a:t>Mathematician, DTU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75198-AF5D-BAA8-DFB0-904EBB649213}"/>
              </a:ext>
            </a:extLst>
          </p:cNvPr>
          <p:cNvSpPr txBox="1"/>
          <p:nvPr/>
        </p:nvSpPr>
        <p:spPr>
          <a:xfrm>
            <a:off x="838200" y="6221866"/>
            <a:ext cx="898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Bendsoe</a:t>
            </a:r>
            <a:r>
              <a:rPr lang="en-US" dirty="0"/>
              <a:t> &amp; Kikuchi (1988 paper) – </a:t>
            </a:r>
            <a:r>
              <a:rPr lang="en-US" dirty="0" err="1"/>
              <a:t>HyperWorks</a:t>
            </a:r>
            <a:r>
              <a:rPr lang="en-US" dirty="0"/>
              <a:t> – Altair – Siemens acquisition (11bn, 2024)</a:t>
            </a:r>
          </a:p>
        </p:txBody>
      </p:sp>
    </p:spTree>
    <p:extLst>
      <p:ext uri="{BB962C8B-B14F-4D97-AF65-F5344CB8AC3E}">
        <p14:creationId xmlns:p14="http://schemas.microsoft.com/office/powerpoint/2010/main" val="3842121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B6B5B-F0EC-D3AF-3157-DB4CCF06F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C6039-72CA-6219-1071-E675FD4E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EF8F08-E004-5F46-15E0-74FF2FA78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(Nonlinear PDE constrained optimization) </a:t>
                </a:r>
                <a:r>
                  <a:rPr lang="en-US" sz="2400" dirty="0"/>
                  <a:t>Now consider the problem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,{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 xml:space="preserve"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 xml:space="preserve"> given, representing the solving process of a nonlinear PDE solver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the evolving system state towards an approximately converged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are the design variables.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Derive the reduced gradient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𝑑𝐹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den>
                    </m:f>
                  </m:oMath>
                </a14:m>
                <a:r>
                  <a:rPr lang="en-US" sz="2400" dirty="0"/>
                  <a:t> and explain its computational complexity.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EF8F08-E004-5F46-15E0-74FF2FA78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29082" cy="5032375"/>
              </a:xfrm>
              <a:blipFill>
                <a:blip r:embed="rId2"/>
                <a:stretch>
                  <a:fillRect l="-938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7792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D512-B1B9-0B1F-2761-153FBBDD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10403-7E2B-1463-B618-88282F79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C076AA-5B1F-39A0-78FF-E82599F3DA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72647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(Neural network training) </a:t>
                </a:r>
                <a:r>
                  <a:rPr lang="en-US" sz="2400" dirty="0"/>
                  <a:t>Now consider the problem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},{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/>
                  <a:t xml:space="preserve"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 xml:space="preserve"> given.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Explain how neural networks are trained.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C076AA-5B1F-39A0-78FF-E82599F3DA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72647" cy="5032375"/>
              </a:xfrm>
              <a:blipFill>
                <a:blip r:embed="rId2"/>
                <a:stretch>
                  <a:fillRect l="-1396" t="-14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Geoffrey Hinton, 9th Frontiers of Knowledge Award in Information and  Communication Technologies">
            <a:extLst>
              <a:ext uri="{FF2B5EF4-FFF2-40B4-BE49-F238E27FC236}">
                <a16:creationId xmlns:a16="http://schemas.microsoft.com/office/drawing/2014/main" id="{98F6E6DE-D875-7772-A454-52FE5BB8E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0739" y="1825625"/>
            <a:ext cx="2667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8A44E9-FE3A-6436-E58F-C693F5072D60}"/>
              </a:ext>
            </a:extLst>
          </p:cNvPr>
          <p:cNvSpPr txBox="1"/>
          <p:nvPr/>
        </p:nvSpPr>
        <p:spPr>
          <a:xfrm>
            <a:off x="8849715" y="4973837"/>
            <a:ext cx="33422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Geoffrey Hinton: </a:t>
            </a:r>
            <a:r>
              <a:rPr lang="en-US" dirty="0"/>
              <a:t>Turing award (2018) for successful application of Backpropagation to neural net training.</a:t>
            </a:r>
          </a:p>
          <a:p>
            <a:r>
              <a:rPr lang="en-US" dirty="0"/>
              <a:t>Nobel Prize in Physics (2024, for Boltzmann machine)</a:t>
            </a:r>
          </a:p>
        </p:txBody>
      </p:sp>
    </p:spTree>
    <p:extLst>
      <p:ext uri="{BB962C8B-B14F-4D97-AF65-F5344CB8AC3E}">
        <p14:creationId xmlns:p14="http://schemas.microsoft.com/office/powerpoint/2010/main" val="2751976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712F2-D404-CA40-D361-3120270D7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3C8D-9F55-C6C5-F9FF-27EAA335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FC251-7614-F71D-2FDA-0169B74552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49708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(Wireless communication) </a:t>
                </a:r>
                <a:r>
                  <a:rPr lang="en-US" sz="2400" dirty="0"/>
                  <a:t>Now consider the problem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Subject to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is the noise level (inverse to signal-to-noise ratio (SNR)) of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/>
                  <a:t>th channel,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 xml:space="preserve"> is the channel-wise power, and the objective is the negative total information rate.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Explain the solution structure of this problem.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4FC251-7614-F71D-2FDA-0169B7455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49708" cy="5032375"/>
              </a:xfrm>
              <a:blipFill>
                <a:blip r:embed="rId2"/>
                <a:stretch>
                  <a:fillRect l="-936" t="-14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141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F819-CBDE-F19F-F397-3C1328ABD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C1B4-766F-3B2E-A9C1-DECF07680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B0797D-4F1D-1A2A-441C-A1B099D40F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49708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b="1" dirty="0"/>
                  <a:t>(Manufacturing) </a:t>
                </a:r>
                <a:r>
                  <a:rPr lang="en-US" sz="2400" dirty="0"/>
                  <a:t>A company manufactures two types of products: A and B. Price: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sale quantity: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=400−2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=200+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Manufacturing one unit of A requires 2 hours of labor and 1 unit of raw material.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For B, 3 hours of labor and 2 units of raw material.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We have 1000 hours of labor and 200 units of raw material available.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 xml:space="preserve">What are the revenue-maximizing prices?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How much would the company be willing to pay for another hour of labor? Or another unit of raw material?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B0797D-4F1D-1A2A-441C-A1B099D40F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49708" cy="5032375"/>
              </a:xfrm>
              <a:blipFill>
                <a:blip r:embed="rId2"/>
                <a:stretch>
                  <a:fillRect l="-936" t="-1763" r="-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176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4C511-71D1-9A94-BD06-DE228CC5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0F4B4-231B-43A6-6C0F-4C3E03E13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Sensitivity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4510A3-62D1-D0EB-707A-5C93623EA5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49708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First consider a change from (P) to (P’) with 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4510A3-62D1-D0EB-707A-5C93623EA5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49708" cy="5032375"/>
              </a:xfrm>
              <a:blipFill>
                <a:blip r:embed="rId2"/>
                <a:stretch>
                  <a:fillRect l="-936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E946082-F5BB-1340-AC86-3A0CE64A0259}"/>
              </a:ext>
            </a:extLst>
          </p:cNvPr>
          <p:cNvSpPr/>
          <p:nvPr/>
        </p:nvSpPr>
        <p:spPr>
          <a:xfrm>
            <a:off x="899530" y="2309804"/>
            <a:ext cx="10169913" cy="20235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6B0E14-0045-43E8-CC2B-B659A1D1AC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496837"/>
                  </p:ext>
                </p:extLst>
              </p:nvPr>
            </p:nvGraphicFramePr>
            <p:xfrm>
              <a:off x="1920486" y="2354408"/>
              <a:ext cx="7466581" cy="18844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7397">
                      <a:extLst>
                        <a:ext uri="{9D8B030D-6E8A-4147-A177-3AD203B41FA5}">
                          <a16:colId xmlns:a16="http://schemas.microsoft.com/office/drawing/2014/main" val="66751682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91031568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6162830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2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(P)</a:t>
                          </a: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𝒳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3123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≤0</m:t>
                                </m:r>
                              </m:oMath>
                            </m:oMathPara>
                          </a14:m>
                          <a:endParaRPr lang="en-US" sz="3200" b="0" dirty="0"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9644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21278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56B0E14-0045-43E8-CC2B-B659A1D1AC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496837"/>
                  </p:ext>
                </p:extLst>
              </p:nvPr>
            </p:nvGraphicFramePr>
            <p:xfrm>
              <a:off x="1920486" y="2354408"/>
              <a:ext cx="7466581" cy="18844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7397">
                      <a:extLst>
                        <a:ext uri="{9D8B030D-6E8A-4147-A177-3AD203B41FA5}">
                          <a16:colId xmlns:a16="http://schemas.microsoft.com/office/drawing/2014/main" val="66751682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91031568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616283054"/>
                        </a:ext>
                      </a:extLst>
                    </a:gridCol>
                  </a:tblGrid>
                  <a:tr h="72625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2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(P)</a:t>
                          </a: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907" t="-10526" r="-100388" b="-16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7413" t="-10526" b="-16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31233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907" t="-136957" r="-100388" b="-1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7413" t="-136957" b="-1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964472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7413" t="-236957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212788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FB44CA0B-095D-6979-A2BB-52693A5A6679}"/>
              </a:ext>
            </a:extLst>
          </p:cNvPr>
          <p:cNvSpPr/>
          <p:nvPr/>
        </p:nvSpPr>
        <p:spPr>
          <a:xfrm>
            <a:off x="899530" y="4637366"/>
            <a:ext cx="10169913" cy="20235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691C62B-7586-9A22-8EF3-CA03874AD4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7943409"/>
                  </p:ext>
                </p:extLst>
              </p:nvPr>
            </p:nvGraphicFramePr>
            <p:xfrm>
              <a:off x="1920486" y="4681970"/>
              <a:ext cx="7466581" cy="18844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7397">
                      <a:extLst>
                        <a:ext uri="{9D8B030D-6E8A-4147-A177-3AD203B41FA5}">
                          <a16:colId xmlns:a16="http://schemas.microsoft.com/office/drawing/2014/main" val="66751682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91031568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6162830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2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(P’)</a:t>
                          </a: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𝒳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3123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oMath>
                            </m:oMathPara>
                          </a14:m>
                          <a:endParaRPr lang="en-US" sz="3200" b="0" dirty="0"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9644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21278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691C62B-7586-9A22-8EF3-CA03874AD4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7943409"/>
                  </p:ext>
                </p:extLst>
              </p:nvPr>
            </p:nvGraphicFramePr>
            <p:xfrm>
              <a:off x="1920486" y="4681970"/>
              <a:ext cx="7466581" cy="18844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7397">
                      <a:extLst>
                        <a:ext uri="{9D8B030D-6E8A-4147-A177-3AD203B41FA5}">
                          <a16:colId xmlns:a16="http://schemas.microsoft.com/office/drawing/2014/main" val="66751682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91031568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616283054"/>
                        </a:ext>
                      </a:extLst>
                    </a:gridCol>
                  </a:tblGrid>
                  <a:tr h="72625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2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(P’)</a:t>
                          </a: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907" t="-10345" r="-100388" b="-1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27413" t="-10345" b="-158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31233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7907" t="-139130" r="-10038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27413" t="-13913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964472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27413" t="-239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21278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27544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D1480-A952-9814-6C2A-C8D7EF8C6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F5EFF-28EA-97AD-1016-4D2C34F7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Sensitivity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A5EB7-D5DD-8DE9-F223-3C4B96FD9D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Consider a change from (P) to (P’) with 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Let the optimum of (P)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that of (P’)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A5EB7-D5DD-8DE9-F223-3C4B96FD9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5032375"/>
              </a:xfrm>
              <a:blipFill>
                <a:blip r:embed="rId2"/>
                <a:stretch>
                  <a:fillRect l="-894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7B2C62B6-E29E-68ED-F21A-FB51D06B0CA3}"/>
              </a:ext>
            </a:extLst>
          </p:cNvPr>
          <p:cNvSpPr/>
          <p:nvPr/>
        </p:nvSpPr>
        <p:spPr>
          <a:xfrm>
            <a:off x="899530" y="4637366"/>
            <a:ext cx="10169913" cy="20235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F3E1004-76B7-8C07-6801-10EF19B921F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0486" y="4681970"/>
              <a:ext cx="7466581" cy="18844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7397">
                      <a:extLst>
                        <a:ext uri="{9D8B030D-6E8A-4147-A177-3AD203B41FA5}">
                          <a16:colId xmlns:a16="http://schemas.microsoft.com/office/drawing/2014/main" val="66751682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91031568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6162830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2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(P’)</a:t>
                          </a: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𝒳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3123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oMath>
                            </m:oMathPara>
                          </a14:m>
                          <a:endParaRPr lang="en-US" sz="3200" b="0" dirty="0"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9644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21278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F3E1004-76B7-8C07-6801-10EF19B921F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0486" y="4681970"/>
              <a:ext cx="7466581" cy="18844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7397">
                      <a:extLst>
                        <a:ext uri="{9D8B030D-6E8A-4147-A177-3AD203B41FA5}">
                          <a16:colId xmlns:a16="http://schemas.microsoft.com/office/drawing/2014/main" val="66751682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91031568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616283054"/>
                        </a:ext>
                      </a:extLst>
                    </a:gridCol>
                  </a:tblGrid>
                  <a:tr h="72625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2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(P’)</a:t>
                          </a: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907" t="-10345" r="-100388" b="-1586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7413" t="-10345" b="-1586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31233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907" t="-139130" r="-10038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7413" t="-13913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964472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7413" t="-239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21278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5241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AED7C-7DCE-32DE-17E6-55A3AFD6C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35E61-DD71-EDE5-C4C1-1A3FEA763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Sensitivity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C6FF74-D868-5743-FC6B-14635B796D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We can show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Lagrange multipliers represent sensitivity of optimal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w.r.t.</a:t>
                </a:r>
                <a:r>
                  <a:rPr lang="en-US" sz="2400" dirty="0"/>
                  <a:t> constraint changes!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Consider a relaxation of a single strongly active inequality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This explains why </a:t>
                </a:r>
                <a:r>
                  <a:rPr lang="en-US" sz="2400" dirty="0" err="1"/>
                  <a:t>Lagrangian</a:t>
                </a:r>
                <a:r>
                  <a:rPr lang="en-US" sz="2400" dirty="0"/>
                  <a:t> multipliers for active inequality constraints are non-negative (otherwise relaxing a constraint harms the performance).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C6FF74-D868-5743-FC6B-14635B796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5032375"/>
              </a:xfrm>
              <a:blipFill>
                <a:blip r:embed="rId2"/>
                <a:stretch>
                  <a:fillRect l="-894" t="-1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6580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7A352-1D92-1619-74BB-CA5593644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90D3-4D3B-2252-A696-B32231170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Sensitivity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644C91-197E-DCFF-A179-0C58AB6D0D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49708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Now consider a general case where (P) parameterized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2400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>At a local optimal solution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we can show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𝜕𝜃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644C91-197E-DCFF-A179-0C58AB6D0D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49708" cy="5032375"/>
              </a:xfrm>
              <a:blipFill>
                <a:blip r:embed="rId2"/>
                <a:stretch>
                  <a:fillRect l="-936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94CC018-26D7-20F8-F53A-D9DE27847643}"/>
              </a:ext>
            </a:extLst>
          </p:cNvPr>
          <p:cNvSpPr/>
          <p:nvPr/>
        </p:nvSpPr>
        <p:spPr>
          <a:xfrm>
            <a:off x="899530" y="2309804"/>
            <a:ext cx="10169913" cy="20235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9182650-ED80-4B62-5957-94998D80FD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022367"/>
                  </p:ext>
                </p:extLst>
              </p:nvPr>
            </p:nvGraphicFramePr>
            <p:xfrm>
              <a:off x="1920486" y="2354408"/>
              <a:ext cx="7466581" cy="18844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7397">
                      <a:extLst>
                        <a:ext uri="{9D8B030D-6E8A-4147-A177-3AD203B41FA5}">
                          <a16:colId xmlns:a16="http://schemas.microsoft.com/office/drawing/2014/main" val="66751682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91031568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6162830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2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(P)</a:t>
                          </a: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limLow>
                                  <m:limLow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𝒳</m:t>
                                    </m:r>
                                  </m:lim>
                                </m:limLow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3123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. 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≤0</m:t>
                                </m:r>
                              </m:oMath>
                            </m:oMathPara>
                          </a14:m>
                          <a:endParaRPr lang="en-US" sz="3200" b="0" dirty="0"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396447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321278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9182650-ED80-4B62-5957-94998D80FD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9022367"/>
                  </p:ext>
                </p:extLst>
              </p:nvPr>
            </p:nvGraphicFramePr>
            <p:xfrm>
              <a:off x="1920486" y="2354408"/>
              <a:ext cx="7466581" cy="188449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7397">
                      <a:extLst>
                        <a:ext uri="{9D8B030D-6E8A-4147-A177-3AD203B41FA5}">
                          <a16:colId xmlns:a16="http://schemas.microsoft.com/office/drawing/2014/main" val="66751682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910315689"/>
                        </a:ext>
                      </a:extLst>
                    </a:gridCol>
                    <a:gridCol w="3279592">
                      <a:extLst>
                        <a:ext uri="{9D8B030D-6E8A-4147-A177-3AD203B41FA5}">
                          <a16:colId xmlns:a16="http://schemas.microsoft.com/office/drawing/2014/main" val="1616283054"/>
                        </a:ext>
                      </a:extLst>
                    </a:gridCol>
                  </a:tblGrid>
                  <a:tr h="72625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320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(P)</a:t>
                          </a: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907" t="-10526" r="-100388" b="-1649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7413" t="-10526" b="-1649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312337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907" t="-136957" r="-100388" b="-1043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7413" t="-136957" b="-10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964472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320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7413" t="-236957" b="-43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21278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58378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116D-E0CB-BD83-4D54-3DF5C0715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14AE5-1881-3B9A-F1D4-FA9DCF912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432FF"/>
                </a:solidFill>
              </a:rPr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66379-90E9-F71C-C6EF-9B4CB4B84D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49708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sz="2400" dirty="0"/>
                  <a:t xml:space="preserve">Find the nearest point on the curve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to the point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 xml:space="preserve"> in a 2D space, assuming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≥1/2</m:t>
                    </m:r>
                  </m:oMath>
                </a14:m>
                <a:r>
                  <a:rPr lang="en-US" sz="2400" dirty="0"/>
                  <a:t xml:space="preserve">. If the curve changes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, for some small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, how will the minimal distance change?</a:t>
                </a:r>
              </a:p>
              <a:p>
                <a:pPr marL="457200" indent="-457200">
                  <a:spcAft>
                    <a:spcPts val="1200"/>
                  </a:spcAft>
                  <a:buAutoNum type="arabicPeriod"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466379-90E9-F71C-C6EF-9B4CB4B84D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49708" cy="5032375"/>
              </a:xfrm>
              <a:blipFill>
                <a:blip r:embed="rId2"/>
                <a:stretch>
                  <a:fillRect l="-936" t="-1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448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17411</TotalTime>
  <Words>2498</Words>
  <Application>Microsoft Macintosh PowerPoint</Application>
  <PresentationFormat>Widescreen</PresentationFormat>
  <Paragraphs>240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Office Theme</vt:lpstr>
      <vt:lpstr>PowerPoint Presentation</vt:lpstr>
      <vt:lpstr>Overview</vt:lpstr>
      <vt:lpstr>Constrained optimization</vt:lpstr>
      <vt:lpstr>Karush-Kuhn-Tucker (KKT) point </vt:lpstr>
      <vt:lpstr>Karush-Kuhn-Tucker (KKT) point </vt:lpstr>
      <vt:lpstr>Geometric interpretation</vt:lpstr>
      <vt:lpstr>Optimality conditions</vt:lpstr>
      <vt:lpstr>Optimality conditions</vt:lpstr>
      <vt:lpstr>Constraint qualification</vt:lpstr>
      <vt:lpstr>Exercise</vt:lpstr>
      <vt:lpstr>Exercise</vt:lpstr>
      <vt:lpstr>Derivation – equality constraints only</vt:lpstr>
      <vt:lpstr>Derivation – equality constraints only</vt:lpstr>
      <vt:lpstr>Exercise</vt:lpstr>
      <vt:lpstr>Derivation – equality constraints only</vt:lpstr>
      <vt:lpstr>Derivation – second-order conditions</vt:lpstr>
      <vt:lpstr>Exercise</vt:lpstr>
      <vt:lpstr>Derivation – incorporate inequality constraints</vt:lpstr>
      <vt:lpstr>Derivation – incorporate inequality constraints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Sensitivity analysis</vt:lpstr>
      <vt:lpstr>Sensitivity analysis</vt:lpstr>
      <vt:lpstr>Sensitivity analysis</vt:lpstr>
      <vt:lpstr>Sensitivity analysis</vt:lpstr>
      <vt:lpstr>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 Ren</dc:creator>
  <cp:lastModifiedBy>Yi Ren</cp:lastModifiedBy>
  <cp:revision>26</cp:revision>
  <dcterms:created xsi:type="dcterms:W3CDTF">2025-10-19T17:30:42Z</dcterms:created>
  <dcterms:modified xsi:type="dcterms:W3CDTF">2026-10-19T17:41:03Z</dcterms:modified>
</cp:coreProperties>
</file>