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58" r:id="rId4"/>
    <p:sldId id="259" r:id="rId5"/>
    <p:sldId id="260" r:id="rId6"/>
    <p:sldId id="267" r:id="rId7"/>
    <p:sldId id="261" r:id="rId8"/>
    <p:sldId id="263" r:id="rId9"/>
    <p:sldId id="262" r:id="rId10"/>
    <p:sldId id="264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09"/>
  </p:normalViewPr>
  <p:slideViewPr>
    <p:cSldViewPr snapToGrid="0">
      <p:cViewPr varScale="1">
        <p:scale>
          <a:sx n="111" d="100"/>
          <a:sy n="111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9DC9-B7BA-77EC-4FF9-A4F3B17C9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8E8F4-7B74-552B-E66E-061DDB573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A7F37-8C34-1082-CE3F-F734D227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21284-940C-EA97-DE62-25CA43BA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4EA8-E1F0-C4E0-D219-FA8B2B4A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5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62B0-1A1F-EF88-E7FE-F780C649E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382C8-3ADF-E0B4-B4AF-96577B23D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E228-ACAC-0224-74B2-C3BC8538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574B3-4CCE-57CB-FBB3-2412F336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45695-42DE-3549-D131-D35922D6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1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A01E-C814-2609-55A1-0F0706C7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5D820-2CE3-E412-DCDF-C902378A7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93A43-9B02-7B85-A00B-52A6A697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E3AE7-967F-5FB5-836E-781CC8BA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6533C-03A6-75F0-2871-F37AB9E4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18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1114-5732-11DA-E4AB-4AC6CB82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6CCA-6FFD-2744-78CC-A24883A3C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FA5AE-04A3-8602-2C41-3EB338EC8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6F0B0-FE77-A0D8-F27D-23F15FA8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E25C5-455B-C021-A50E-ED870482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AD6CA-C29A-CD37-B8D4-42DC3CE0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D9D0-47CF-13EE-2361-3F64114F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F5B38-CDE5-34CA-9FE8-2FB0232AE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E5246-07CD-E9B0-0530-B6D41750F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88C706-90A4-D04C-7B3D-A5EE70713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D8A43-8683-B521-7B06-D07E5F42F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34AE4-8588-111C-C67A-3350E3A8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CC18A-C414-A7B0-B36A-1616E0AD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67910-0C06-1CAF-9905-860C732C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9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92E9-2424-4438-B784-25B04214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2359A-AF77-FA56-6EA1-B37D3928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4FEAF-D30A-424A-F419-05FF7D90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6F25C-0A68-0883-4254-BD3692D7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2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627D2-D90C-0012-D5A0-A901C84E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8B790-AA30-6CEE-C9A3-A85A272A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CC2B4-BCAB-AF67-7B72-83954E25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5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2C17-E1EE-5C6C-C5A1-2811C754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BB4D-91EF-0333-6843-8FF1F68CB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8510D-5CA2-28C3-E81D-1FFF85DA2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8D78A-B78B-0749-BA83-A1AEE43D5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03AA4-AA45-C9E4-7AD8-D5BC3053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B6939-1192-1FF2-2D41-DECB95B1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4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1CC1-BB30-B5A7-667A-A05929A4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EA950-9B34-B964-614D-F38A24CB49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8D554-172F-E11A-BBA8-25EA49F0B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B8431-C71F-CE87-BF72-DC00296D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757FB-9404-B75B-60DD-905E9FC0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8CC9F-96B8-D27D-31D1-4142C8A5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5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1CC8-BE4C-76CD-9ECE-711A9C4A2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098D0-25C7-8F31-93E4-8F0BAE79E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80AB4-1F7F-1656-977B-5AC7AF98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9C8FF-F4FA-DCAB-E886-538C9882A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9A22B-78A0-CCEE-BA3B-779514B0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8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61377-4795-A511-D09B-44A6EB941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2B13A-7F72-7CC6-68E0-F49611653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8DD51-3CFA-0AC9-B839-D9DDCAD5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4F46D-4385-7C05-E148-2B682E92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97BC7-F521-391C-D17E-2F891959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2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CBF6BE-D46B-A3DB-35B2-AABF39F20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65759-8F42-154F-9734-1ACD10E18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5E72F-A988-628C-5974-7B3A7B6F1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6FB76-242C-D940-8FCF-75007C7A316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5E680-5F5C-1C54-DE12-9DB9CDC19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D611C-7271-9AE1-9F20-95CC0211E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5311A-8264-2443-A771-5258FFC8B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6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4B2B-8F70-C9CD-CC5A-574A532C4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243" y="682095"/>
            <a:ext cx="11098980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rgbClr val="0432FF"/>
                </a:solidFill>
              </a:rPr>
              <a:t>Preliminaries:</a:t>
            </a:r>
            <a:br>
              <a:rPr lang="en-US" sz="4000" dirty="0">
                <a:solidFill>
                  <a:srgbClr val="0432FF"/>
                </a:solidFill>
              </a:rPr>
            </a:br>
            <a:r>
              <a:rPr lang="en-US" sz="4000" dirty="0">
                <a:solidFill>
                  <a:srgbClr val="0432FF"/>
                </a:solidFill>
              </a:rPr>
              <a:t>matrix calculus, convexity, Taylor’s expansion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1C497-D4C6-C2EA-44EB-5C355DFA8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9243" y="3602038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MAE598/494 Design Optimization</a:t>
            </a:r>
          </a:p>
          <a:p>
            <a:pPr algn="l"/>
            <a:r>
              <a:rPr lang="en-US" dirty="0"/>
              <a:t>Yi Ren</a:t>
            </a:r>
          </a:p>
          <a:p>
            <a:pPr algn="l"/>
            <a:r>
              <a:rPr lang="en-US" dirty="0"/>
              <a:t>ASU Fall 2025</a:t>
            </a:r>
          </a:p>
        </p:txBody>
      </p:sp>
    </p:spTree>
    <p:extLst>
      <p:ext uri="{BB962C8B-B14F-4D97-AF65-F5344CB8AC3E}">
        <p14:creationId xmlns:p14="http://schemas.microsoft.com/office/powerpoint/2010/main" val="2862292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3E5DD-E498-6660-8539-33C3D130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7628-6007-CDF4-7681-8B9E4D83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Matrix calculus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8148-53F6-C95E-27FD-A1DE77724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522" cy="2547443"/>
          </a:xfrm>
        </p:spPr>
        <p:txBody>
          <a:bodyPr>
            <a:normAutofit/>
          </a:bodyPr>
          <a:lstStyle/>
          <a:p>
            <a:pPr marL="0" indent="0">
              <a:lnSpc>
                <a:spcPts val="4000"/>
              </a:lnSpc>
              <a:buNone/>
            </a:pPr>
            <a:r>
              <a:rPr lang="en-US" sz="2400" b="1" dirty="0"/>
              <a:t>Overview</a:t>
            </a:r>
          </a:p>
          <a:p>
            <a:pPr>
              <a:lnSpc>
                <a:spcPts val="4000"/>
              </a:lnSpc>
            </a:pPr>
            <a:r>
              <a:rPr lang="en-US" sz="2400" b="1" dirty="0"/>
              <a:t>Gradient </a:t>
            </a:r>
            <a:r>
              <a:rPr lang="en-US" sz="2400" dirty="0"/>
              <a:t>(first-order derivative)</a:t>
            </a:r>
            <a:r>
              <a:rPr lang="en-US" sz="2400" b="1" dirty="0"/>
              <a:t> </a:t>
            </a:r>
            <a:r>
              <a:rPr lang="en-US" sz="2400" dirty="0"/>
              <a:t>tells the slope and direction for going up hill.</a:t>
            </a:r>
          </a:p>
          <a:p>
            <a:pPr>
              <a:lnSpc>
                <a:spcPts val="4000"/>
              </a:lnSpc>
            </a:pPr>
            <a:r>
              <a:rPr lang="en-US" sz="2400" b="1" dirty="0"/>
              <a:t>Hessian</a:t>
            </a:r>
            <a:r>
              <a:rPr lang="en-US" sz="2400" dirty="0"/>
              <a:t> (second-order derivative) tells the curvature of the hill.</a:t>
            </a:r>
          </a:p>
          <a:p>
            <a:pPr marL="0" indent="0">
              <a:lnSpc>
                <a:spcPts val="4000"/>
              </a:lnSpc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4246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D0BC-8FFB-0570-26CE-2737F1E8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Matrix calculus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D5906-A14C-68E5-66AC-4F9063B3C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254744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evaluated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with respect to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 vector of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/>
                  <a:t> pointing in the steepest ascend direction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D5906-A14C-68E5-66AC-4F9063B3C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2547443"/>
              </a:xfrm>
              <a:blipFill>
                <a:blip r:embed="rId2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14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C6991-27A1-B67E-12D5-CF430BF78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6279-DCC5-9B84-AFFB-B9A5F71D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Matrix calculus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42322A-8FCB-83A1-DF86-F48D7B611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1800"/>
                <a:ext cx="11353800" cy="568148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Hessian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evaluated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wrt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 symmetric matrix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/>
                  <a:t>-by-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dirty="0"/>
                  <a:t>Let its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eigenvalue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measures curvature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42322A-8FCB-83A1-DF86-F48D7B611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1800"/>
                <a:ext cx="11353800" cy="5681486"/>
              </a:xfrm>
              <a:blipFill>
                <a:blip r:embed="rId2"/>
                <a:stretch>
                  <a:fillRect l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8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6D660-4DC4-AB11-C939-91A0F21EC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C57F-7FD9-3DF0-2395-D034DD1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Matrix calculus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80281D-0F6B-605E-261A-3EDF228C13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1800"/>
                <a:ext cx="11353800" cy="568148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Hessian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evaluated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wrt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 symmetric matrix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/>
                  <a:t>-by-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dirty="0"/>
                  <a:t>Let its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eigenvalue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measures curvature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dirty="0"/>
                  <a:t>We call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2400" dirty="0"/>
              </a:p>
              <a:p>
                <a:pPr>
                  <a:lnSpc>
                    <a:spcPts val="4000"/>
                  </a:lnSpc>
                </a:pPr>
                <a:r>
                  <a:rPr lang="en-US" sz="2400" dirty="0"/>
                  <a:t>Positive definite (</a:t>
                </a:r>
                <a:r>
                  <a:rPr lang="en-US" sz="2400" dirty="0" err="1"/>
                  <a:t>p.d.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≻0</m:t>
                    </m:r>
                  </m:oMath>
                </a14:m>
                <a:r>
                  <a:rPr lang="en-US" sz="2400" dirty="0"/>
                  <a:t>)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pPr>
                  <a:lnSpc>
                    <a:spcPts val="4000"/>
                  </a:lnSpc>
                </a:pPr>
                <a:r>
                  <a:rPr lang="en-US" sz="2400" dirty="0"/>
                  <a:t>Positive semi-definite (</a:t>
                </a:r>
                <a:r>
                  <a:rPr lang="en-US" sz="2400" dirty="0" err="1"/>
                  <a:t>p.s.d.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)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pPr>
                  <a:lnSpc>
                    <a:spcPts val="4000"/>
                  </a:lnSpc>
                </a:pPr>
                <a:r>
                  <a:rPr lang="en-US" sz="2400" dirty="0"/>
                  <a:t>Negative definite (n.d.,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)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pPr>
                  <a:lnSpc>
                    <a:spcPts val="4000"/>
                  </a:lnSpc>
                </a:pPr>
                <a:r>
                  <a:rPr lang="en-US" sz="2400" dirty="0"/>
                  <a:t>Positive semi-definite (</a:t>
                </a:r>
                <a:r>
                  <a:rPr lang="en-US" sz="2400" dirty="0" err="1"/>
                  <a:t>p.s.d.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)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pPr>
                  <a:lnSpc>
                    <a:spcPts val="4000"/>
                  </a:lnSpc>
                </a:pPr>
                <a:r>
                  <a:rPr lang="en-US" sz="2400" dirty="0"/>
                  <a:t>Indefinite (</a:t>
                </a:r>
                <a:r>
                  <a:rPr lang="en-US" sz="2400" dirty="0" err="1"/>
                  <a:t>i.d.</a:t>
                </a:r>
                <a:r>
                  <a:rPr lang="en-US" sz="2400" dirty="0"/>
                  <a:t>) otherwise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80281D-0F6B-605E-261A-3EDF228C13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1800"/>
                <a:ext cx="11353800" cy="5681486"/>
              </a:xfrm>
              <a:blipFill>
                <a:blip r:embed="rId2"/>
                <a:stretch>
                  <a:fillRect l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65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8F5E-62E8-1A71-A0A5-FAB37A99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B8BF-2E20-D935-7858-7B834B76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set and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CBD4C-3A78-2AD1-001C-DB8FAEFE9D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Overview</a:t>
                </a:r>
              </a:p>
              <a:p>
                <a:pPr>
                  <a:lnSpc>
                    <a:spcPts val="4000"/>
                  </a:lnSpc>
                </a:pPr>
                <a:r>
                  <a:rPr lang="en-US" sz="2400" dirty="0"/>
                  <a:t>An optimization problem is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convex</a:t>
                </a:r>
                <a:r>
                  <a:rPr lang="en-US" sz="2400" dirty="0"/>
                  <a:t> when the feasible domain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sz="2400" dirty="0"/>
                  <a:t> is a convex set and the objective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a convex function. </a:t>
                </a:r>
              </a:p>
              <a:p>
                <a:pPr>
                  <a:lnSpc>
                    <a:spcPts val="4000"/>
                  </a:lnSpc>
                </a:pPr>
                <a:r>
                  <a:rPr lang="en-US" sz="2400" dirty="0"/>
                  <a:t>Convex problems have </a:t>
                </a:r>
                <a:r>
                  <a:rPr lang="en-US" sz="2400" dirty="0">
                    <a:solidFill>
                      <a:srgbClr val="0432FF"/>
                    </a:solidFill>
                  </a:rPr>
                  <a:t>unique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 and </a:t>
                </a:r>
                <a:r>
                  <a:rPr lang="en-US" sz="2400" dirty="0">
                    <a:solidFill>
                      <a:srgbClr val="0432FF"/>
                    </a:solidFill>
                  </a:rPr>
                  <a:t>scales</a:t>
                </a:r>
                <a:r>
                  <a:rPr lang="en-US" sz="2400" dirty="0"/>
                  <a:t> (e.g., real-time control of large systems).</a:t>
                </a:r>
              </a:p>
              <a:p>
                <a:pPr>
                  <a:lnSpc>
                    <a:spcPts val="4000"/>
                  </a:lnSpc>
                </a:pPr>
                <a:r>
                  <a:rPr lang="en-US" sz="2400" dirty="0"/>
                  <a:t>Non-convex problems are often (iteratively) approximated as convex ones.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CBD4C-3A78-2AD1-001C-DB8FAEFE9D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5032375"/>
              </a:xfrm>
              <a:blipFill>
                <a:blip r:embed="rId2"/>
                <a:stretch>
                  <a:fillRect l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75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9F73-06C7-9B0A-2E0D-97FBE54C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CE0F1C-ABA1-E901-4659-80F00541DE32}"/>
              </a:ext>
            </a:extLst>
          </p:cNvPr>
          <p:cNvSpPr/>
          <p:nvPr/>
        </p:nvSpPr>
        <p:spPr>
          <a:xfrm>
            <a:off x="838199" y="1682403"/>
            <a:ext cx="10981267" cy="1467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B7BCF-A772-FC5A-26D0-C6ECA4F8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B78C26-D9F6-6E47-7DFD-215EBC73A4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71578" cy="254744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Definition 1 (convex set):</a:t>
                </a:r>
                <a:r>
                  <a:rPr lang="en-US" sz="2400" dirty="0"/>
                  <a:t> A set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convex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endParaRPr lang="en-US" sz="2400" dirty="0"/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Examples: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B78C26-D9F6-6E47-7DFD-215EBC73A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71578" cy="2547443"/>
              </a:xfrm>
              <a:blipFill>
                <a:blip r:embed="rId2"/>
                <a:stretch>
                  <a:fillRect l="-917" r="-1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61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FD2F9-4BB4-9154-097E-D57FC321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0266-920E-AE5E-A0E3-916D2B97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A9E1DC-E70C-6D9C-B8C6-78C7002CE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71578" cy="449615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Properties/definitions of convex set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r>
                  <a:rPr lang="en-US" sz="2400" dirty="0"/>
                  <a:t>Intersections of convex sets are convex.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r>
                  <a:rPr lang="en-US" sz="2400" dirty="0"/>
                  <a:t>Affine images of convex sets are convex: Let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2400" dirty="0"/>
                  <a:t> be convex,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is convex for any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r>
                  <a:rPr lang="en-US" sz="2400" dirty="0"/>
                  <a:t>The convex hull of any set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400" dirty="0"/>
                  <a:t> is the smallest convex set containing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A9E1DC-E70C-6D9C-B8C6-78C7002CE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71578" cy="4496153"/>
              </a:xfrm>
              <a:blipFill>
                <a:blip r:embed="rId2"/>
                <a:stretch>
                  <a:fillRect l="-917" r="-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950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F35F-C309-9EA1-51C1-54F9B20C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2CF894-5AB0-044B-62A1-ADA24082673F}"/>
              </a:ext>
            </a:extLst>
          </p:cNvPr>
          <p:cNvSpPr/>
          <p:nvPr/>
        </p:nvSpPr>
        <p:spPr>
          <a:xfrm>
            <a:off x="838199" y="1682402"/>
            <a:ext cx="10981267" cy="19751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F5AD7-57EF-A782-0039-89F628D3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8B5D7-9FDD-762D-7612-5C08371B11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71578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Definition 2 (convex function):</a:t>
                </a:r>
                <a:r>
                  <a:rPr lang="en-US" sz="2400" dirty="0"/>
                  <a:t> A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convex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(1)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a convex set, and (2)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  <a:endParaRPr lang="en-US" sz="2400" b="1" dirty="0"/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Examples: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8B5D7-9FDD-762D-7612-5C08371B11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71578" cy="4667250"/>
              </a:xfrm>
              <a:blipFill>
                <a:blip r:embed="rId2"/>
                <a:stretch>
                  <a:fillRect l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20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5E6F3-2F39-8938-B8D9-0E2C156B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D10D-67B2-C1FA-2C66-943ADC14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F156A6-AD9A-EF12-38B5-8528BB41B6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49615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More detailed definitions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strictly convex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always “bends up”)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rgbClr val="0432FF"/>
                    </a:solidFill>
                  </a:rPr>
                  <a:t>-strongly convex </a:t>
                </a: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always “bends up” with a positive curvature)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400" dirty="0"/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400" dirty="0"/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F156A6-AD9A-EF12-38B5-8528BB41B6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496153"/>
              </a:xfrm>
              <a:blipFill>
                <a:blip r:embed="rId2"/>
                <a:stretch>
                  <a:fillRect l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31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2ACD5-8BC9-5A11-7C33-E90F112A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B2FD0-4D31-7B75-0FD0-71F913B5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9B1AC-D0ED-C9B9-364B-27C0F00791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528123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Properties of convex function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is convex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lies above all its tangent hyperplanes)</a:t>
                </a:r>
              </a:p>
              <a:p>
                <a:pPr marL="457200" indent="-457200">
                  <a:lnSpc>
                    <a:spcPts val="4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is convex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)≽0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-strongly convex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)≽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4000"/>
                  </a:lnSpc>
                  <a:buFont typeface="Arial" panose="020B0604020202020204" pitchFamily="34" charset="0"/>
                  <a:buAutoNum type="arabicPeriod"/>
                </a:pPr>
                <a:r>
                  <a:rPr lang="en-US" sz="2400" b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Weighted sum:</a:t>
                </a:r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/>
                  <a:t> is convex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are convex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4000"/>
                  </a:lnSpc>
                  <a:buFont typeface="Arial" panose="020B0604020202020204" pitchFamily="34" charset="0"/>
                  <a:buAutoNum type="arabicPeriod"/>
                </a:pPr>
                <a:r>
                  <a:rPr lang="en-US" sz="2400" b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Composition: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dirty="0"/>
                  <a:t> is convex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convex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is convex and non-decreasing.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r>
                  <a:rPr lang="en-US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Pointwise max: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r>
                  <a:rPr lang="en-US" sz="2400" dirty="0"/>
                  <a:t> is convex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are convex.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r>
                  <a:rPr lang="en-US" sz="2400" b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Perspective function:</a:t>
                </a:r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preserves convexity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is convex.</a:t>
                </a:r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400" dirty="0"/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9B1AC-D0ED-C9B9-364B-27C0F0079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5281231"/>
              </a:xfrm>
              <a:blipFill>
                <a:blip r:embed="rId2"/>
                <a:stretch>
                  <a:fillRect l="-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863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2D4C-65E8-9DF9-4B78-4CBA019D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82AC-3B2E-2919-0E19-B4B3B14C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1E8079-7952-ADE5-B5D8-769FA1BC25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5281231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ts val="4000"/>
                  </a:lnSpc>
                  <a:buNone/>
                </a:pPr>
                <a:r>
                  <a:rPr lang="en-US" sz="2200" b="1" dirty="0"/>
                  <a:t>Proof of Property 1: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is convex </a:t>
                </a:r>
                <a:r>
                  <a:rPr lang="en-US" sz="2200" dirty="0" err="1">
                    <a:solidFill>
                      <a:prstClr val="black"/>
                    </a:solidFill>
                  </a:rPr>
                  <a:t>iff</a:t>
                </a:r>
                <a:r>
                  <a:rPr lang="en-US" sz="2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. (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lies above all its tangent hyperplanes)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endParaRPr lang="en-US" sz="2200" b="1" dirty="0"/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2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1E8079-7952-ADE5-B5D8-769FA1BC25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5281231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926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DB2D9-698A-0F59-743C-CDE61AD2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14FF-3177-9166-B6DA-94195DD2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48A6E-8DEA-DA3B-C0B7-83A5F6E826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5281231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ts val="4000"/>
                  </a:lnSpc>
                  <a:buNone/>
                </a:pPr>
                <a:r>
                  <a:rPr lang="en-US" sz="2200" b="1" dirty="0"/>
                  <a:t>Proof of Property 2: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is convex </a:t>
                </a:r>
                <a:r>
                  <a:rPr lang="en-US" sz="2200" dirty="0" err="1">
                    <a:solidFill>
                      <a:prstClr val="black"/>
                    </a:solidFill>
                  </a:rPr>
                  <a:t>iff</a:t>
                </a:r>
                <a:r>
                  <a:rPr lang="en-US" sz="2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)≽0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-strongly convex </a:t>
                </a:r>
                <a:r>
                  <a:rPr lang="en-US" sz="2200" dirty="0" err="1">
                    <a:solidFill>
                      <a:prstClr val="black"/>
                    </a:solidFill>
                  </a:rPr>
                  <a:t>iff</a:t>
                </a:r>
                <a:r>
                  <a:rPr lang="en-US" sz="2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)≽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endParaRPr lang="en-US" sz="2200" b="1" dirty="0"/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2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48A6E-8DEA-DA3B-C0B7-83A5F6E826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5281231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46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DAC8-4602-AF81-8C6A-7361A1AB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2B0D-7F24-7378-5FAC-39CA4DD41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5F78F-6732-239B-5104-94D3E60E39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71925"/>
                <a:ext cx="11353800" cy="528123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200" b="1" dirty="0"/>
                  <a:t>Proof of Property 5: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is convex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are convex</a:t>
                </a:r>
                <a:endParaRPr lang="en-US" sz="2200" b="1" dirty="0"/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2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5F78F-6732-239B-5104-94D3E60E3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71925"/>
                <a:ext cx="11353800" cy="5281231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035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475E-BF30-E669-AFEE-81CCE7F0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5A7D-6E66-A8F2-7617-4AE8A2B4A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Convex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2E1CA-572B-7E42-8C9A-8DD7CE1359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528123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200" b="1" dirty="0"/>
                  <a:t>Proof of Property 6: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𝑡𝑔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preserves convexity if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 is convex</a:t>
                </a:r>
                <a:endParaRPr lang="en-US" sz="2200" b="1" dirty="0"/>
              </a:p>
              <a:p>
                <a:pPr marL="457200" indent="-457200">
                  <a:lnSpc>
                    <a:spcPts val="4000"/>
                  </a:lnSpc>
                  <a:buAutoNum type="arabicPeriod"/>
                </a:pPr>
                <a:endParaRPr lang="en-US" sz="22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2E1CA-572B-7E42-8C9A-8DD7CE1359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5281231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667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8B211-38DE-5927-1A0C-FA532132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5EFE-FE2E-C58E-7AA0-D6546984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Taylor expansion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4D6837-DFDB-6C9A-FA06-530C0AA062B5}"/>
              </a:ext>
            </a:extLst>
          </p:cNvPr>
          <p:cNvSpPr/>
          <p:nvPr/>
        </p:nvSpPr>
        <p:spPr>
          <a:xfrm>
            <a:off x="838199" y="1682402"/>
            <a:ext cx="10981267" cy="25539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AEF77F3-A61B-7B95-0F7D-E399C31E5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71578" cy="430895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Theorem 1 (Taylor expansion): </a:t>
                </a: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𝑑𝑜𝑚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be a small term so that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</m:t>
                        </m:r>
                      </m:lim>
                    </m:limLow>
                    <m:f>
                      <m:f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endParaRPr lang="en-US" sz="2400" dirty="0"/>
              </a:p>
              <a:p>
                <a:pPr marL="0" indent="0">
                  <a:lnSpc>
                    <a:spcPts val="4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ts val="4000"/>
                  </a:lnSpc>
                  <a:buNone/>
                </a:pPr>
                <a:endParaRPr lang="en-US" sz="2400" b="1" dirty="0"/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Examples: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AEF77F3-A61B-7B95-0F7D-E399C31E5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71578" cy="4308957"/>
              </a:xfrm>
              <a:blipFill>
                <a:blip r:embed="rId2"/>
                <a:stretch>
                  <a:fillRect l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586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F4F3-6C85-D0D0-FD68-EA55A5E5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45BC4A-5093-A2BF-E5D2-F84C19A814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000" dirty="0">
                    <a:solidFill>
                      <a:srgbClr val="0432FF"/>
                    </a:solidFill>
                  </a:rPr>
                  <a:t>Convex function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40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45BC4A-5093-A2BF-E5D2-F84C19A81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228657B-03C5-95CF-458B-C72ACE06E5A1}"/>
              </a:ext>
            </a:extLst>
          </p:cNvPr>
          <p:cNvSpPr/>
          <p:nvPr/>
        </p:nvSpPr>
        <p:spPr>
          <a:xfrm>
            <a:off x="838199" y="1682402"/>
            <a:ext cx="10981267" cy="14543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DC6B2A1-6E89-5DD3-7749-58463033A4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71578" cy="430895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Theorem 2 (Convexity-Hessian):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and convex,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endParaRPr lang="en-US" sz="2400" b="1" dirty="0"/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Examples: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DC6B2A1-6E89-5DD3-7749-58463033A4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71578" cy="4308957"/>
              </a:xfrm>
              <a:blipFill>
                <a:blip r:embed="rId3"/>
                <a:stretch>
                  <a:fillRect l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86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CD91-8E1B-02D0-BA84-24D070F8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5E73-EF51-BB36-2104-1E213968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2B0F6B7-5450-63AB-1227-26731322C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71578" cy="4308957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Gradient tells the slope and direction for going up hill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Hessian tells the curvature of the hill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Convex set: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Convex function: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Taylor expansion: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Convex function = </a:t>
                </a:r>
                <a:r>
                  <a:rPr lang="en-US" sz="2400" dirty="0" err="1"/>
                  <a:t>p.s.d.</a:t>
                </a:r>
                <a:r>
                  <a:rPr lang="en-US" sz="2400" dirty="0"/>
                  <a:t> Hessian everywhere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2B0F6B7-5450-63AB-1227-26731322C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71578" cy="4308957"/>
              </a:xfrm>
              <a:blipFill>
                <a:blip r:embed="rId2"/>
                <a:stretch>
                  <a:fillRect l="-803" t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69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16222</TotalTime>
  <Words>989</Words>
  <Application>Microsoft Macintosh PowerPoint</Application>
  <PresentationFormat>Widescreen</PresentationFormat>
  <Paragraphs>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Preliminaries: matrix calculus, convexity, Taylor’s expansion</vt:lpstr>
      <vt:lpstr>Matrix calculus</vt:lpstr>
      <vt:lpstr>Matrix calculus</vt:lpstr>
      <vt:lpstr>Matrix calculus</vt:lpstr>
      <vt:lpstr>Matrix calculus</vt:lpstr>
      <vt:lpstr>Convex set and function</vt:lpstr>
      <vt:lpstr>Convex set</vt:lpstr>
      <vt:lpstr>Convex set</vt:lpstr>
      <vt:lpstr>Convex function</vt:lpstr>
      <vt:lpstr>Convex function</vt:lpstr>
      <vt:lpstr>Convex function</vt:lpstr>
      <vt:lpstr>Convex function</vt:lpstr>
      <vt:lpstr>Convex function</vt:lpstr>
      <vt:lpstr>Convex function</vt:lpstr>
      <vt:lpstr>Convex function</vt:lpstr>
      <vt:lpstr>Taylor expansion</vt:lpstr>
      <vt:lpstr>Convex function in C^2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Ren</dc:creator>
  <cp:lastModifiedBy>Yi Ren</cp:lastModifiedBy>
  <cp:revision>12</cp:revision>
  <dcterms:created xsi:type="dcterms:W3CDTF">2025-07-31T17:18:47Z</dcterms:created>
  <dcterms:modified xsi:type="dcterms:W3CDTF">2025-08-11T23:41:18Z</dcterms:modified>
</cp:coreProperties>
</file>